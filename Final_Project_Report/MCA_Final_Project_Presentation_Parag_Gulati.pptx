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1695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Scalable Backend Development for High-Performance E-Commerce Website Platform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Final Year Project Presentation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0" y="128016"/>
            <a:ext cx="12191695" cy="1920240"/>
          </a:xfrm>
          <a:prstGeom prst="rect">
            <a:avLst/>
          </a:prstGeom>
          <a:solidFill>
            <a:srgbClr val="12355B"/>
          </a:solidFill>
          <a:ln w="12700">
            <a:noFill/>
          </a:ln>
        </p:spPr>
      </p:sp>
      <p:sp>
        <p:nvSpPr>
          <p:cNvPr id="7" name="Shape 7"/>
          <p:cNvSpPr/>
          <p:nvPr/>
        </p:nvSpPr>
        <p:spPr>
          <a:xfrm>
            <a:off x="0" y="1874520"/>
            <a:ext cx="12191695" cy="237744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8" name="Shape 8"/>
          <p:cNvSpPr/>
          <p:nvPr/>
        </p:nvSpPr>
        <p:spPr>
          <a:xfrm>
            <a:off x="658368" y="621792"/>
            <a:ext cx="10241280" cy="6949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3100" dirty="0" b="1">
                <a:solidFill>
                  <a:srgbClr val="FFFFFF"/>
                </a:solidFill>
                <a:latin typeface="Aptos"/>
                <a:cs typeface="Aptos"/>
              </a:rPr>
              <a:t>Scalable Backend Development for High-Performance E-Commerce Website Platform</a:t>
            </a:r>
          </a:p>
        </p:txBody>
      </p:sp>
      <p:sp>
        <p:nvSpPr>
          <p:cNvPr id="9" name="Shape 9"/>
          <p:cNvSpPr/>
          <p:nvPr/>
        </p:nvSpPr>
        <p:spPr>
          <a:xfrm>
            <a:off x="694944" y="1389888"/>
            <a:ext cx="868680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>
                <a:solidFill>
                  <a:srgbClr val="DDEBFF"/>
                </a:solidFill>
                <a:latin typeface="Aptos"/>
                <a:cs typeface="Aptos"/>
              </a:rPr>
              <a:t>Full-stack microservices ecommerce platform with buyer, seller, analytics, and superadmin experiences</a:t>
            </a:r>
          </a:p>
        </p:txBody>
      </p:sp>
      <p:sp>
        <p:nvSpPr>
          <p:cNvPr id="10" name="Shape 10"/>
          <p:cNvSpPr/>
          <p:nvPr/>
        </p:nvSpPr>
        <p:spPr>
          <a:xfrm>
            <a:off x="749808" y="260604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59536" y="2752344"/>
            <a:ext cx="91440" cy="658368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12" name="Shape 12"/>
          <p:cNvSpPr/>
          <p:nvPr/>
        </p:nvSpPr>
        <p:spPr>
          <a:xfrm>
            <a:off x="1042416" y="2770632"/>
            <a:ext cx="205740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300" dirty="0" b="1">
                <a:solidFill>
                  <a:srgbClr val="0F766E"/>
                </a:solidFill>
                <a:latin typeface="Aptos"/>
                <a:cs typeface="Aptos"/>
              </a:rPr>
              <a:t>14</a:t>
            </a:r>
          </a:p>
        </p:txBody>
      </p:sp>
      <p:sp>
        <p:nvSpPr>
          <p:cNvPr id="13" name="Shape 13"/>
          <p:cNvSpPr/>
          <p:nvPr/>
        </p:nvSpPr>
        <p:spPr>
          <a:xfrm>
            <a:off x="1060704" y="3136392"/>
            <a:ext cx="205740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000" dirty="0">
                <a:solidFill>
                  <a:srgbClr val="64748B"/>
                </a:solidFill>
                <a:latin typeface="Aptos"/>
                <a:cs typeface="Aptos"/>
              </a:rPr>
              <a:t>Go backend services</a:t>
            </a:r>
          </a:p>
        </p:txBody>
      </p:sp>
      <p:sp>
        <p:nvSpPr>
          <p:cNvPr id="14" name="Shape 14"/>
          <p:cNvSpPr/>
          <p:nvPr/>
        </p:nvSpPr>
        <p:spPr>
          <a:xfrm>
            <a:off x="3566160" y="260604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3675888" y="2752344"/>
            <a:ext cx="91440" cy="658368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16" name="Shape 16"/>
          <p:cNvSpPr/>
          <p:nvPr/>
        </p:nvSpPr>
        <p:spPr>
          <a:xfrm>
            <a:off x="3858768" y="2770632"/>
            <a:ext cx="205740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300" dirty="0" b="1">
                <a:solidFill>
                  <a:srgbClr val="2563EB"/>
                </a:solidFill>
                <a:latin typeface="Aptos"/>
                <a:cs typeface="Aptos"/>
              </a:rPr>
              <a:t>4</a:t>
            </a:r>
          </a:p>
        </p:txBody>
      </p:sp>
      <p:sp>
        <p:nvSpPr>
          <p:cNvPr id="17" name="Shape 17"/>
          <p:cNvSpPr/>
          <p:nvPr/>
        </p:nvSpPr>
        <p:spPr>
          <a:xfrm>
            <a:off x="3877056" y="3136392"/>
            <a:ext cx="205740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000" dirty="0">
                <a:solidFill>
                  <a:srgbClr val="64748B"/>
                </a:solidFill>
                <a:latin typeface="Aptos"/>
                <a:cs typeface="Aptos"/>
              </a:rPr>
              <a:t>React frontend apps</a:t>
            </a:r>
          </a:p>
        </p:txBody>
      </p:sp>
      <p:sp>
        <p:nvSpPr>
          <p:cNvPr id="18" name="Shape 18"/>
          <p:cNvSpPr/>
          <p:nvPr/>
        </p:nvSpPr>
        <p:spPr>
          <a:xfrm>
            <a:off x="6382512" y="260604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6492240" y="2752344"/>
            <a:ext cx="91440" cy="65836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20" name="Shape 20"/>
          <p:cNvSpPr/>
          <p:nvPr/>
        </p:nvSpPr>
        <p:spPr>
          <a:xfrm>
            <a:off x="6675120" y="2770632"/>
            <a:ext cx="205740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300" dirty="0" b="1">
                <a:solidFill>
                  <a:srgbClr val="F59E0B"/>
                </a:solidFill>
                <a:latin typeface="Aptos"/>
                <a:cs typeface="Aptos"/>
              </a:rPr>
              <a:t>99</a:t>
            </a:r>
          </a:p>
        </p:txBody>
      </p:sp>
      <p:sp>
        <p:nvSpPr>
          <p:cNvPr id="21" name="Shape 21"/>
          <p:cNvSpPr/>
          <p:nvPr/>
        </p:nvSpPr>
        <p:spPr>
          <a:xfrm>
            <a:off x="6693408" y="3136392"/>
            <a:ext cx="205740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000" dirty="0">
                <a:solidFill>
                  <a:srgbClr val="64748B"/>
                </a:solidFill>
                <a:latin typeface="Aptos"/>
                <a:cs typeface="Aptos"/>
              </a:rPr>
              <a:t>REST API endpoints</a:t>
            </a:r>
          </a:p>
        </p:txBody>
      </p:sp>
      <p:sp>
        <p:nvSpPr>
          <p:cNvPr id="22" name="Shape 22"/>
          <p:cNvSpPr/>
          <p:nvPr/>
        </p:nvSpPr>
        <p:spPr>
          <a:xfrm>
            <a:off x="9198864" y="260604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3" name="Shape 23"/>
          <p:cNvSpPr/>
          <p:nvPr/>
        </p:nvSpPr>
        <p:spPr>
          <a:xfrm>
            <a:off x="9308592" y="2752344"/>
            <a:ext cx="91440" cy="658368"/>
          </a:xfrm>
          <a:prstGeom prst="rect">
            <a:avLst/>
          </a:prstGeom>
          <a:solidFill>
            <a:srgbClr val="6D28D9"/>
          </a:solidFill>
          <a:ln w="12700">
            <a:noFill/>
          </a:ln>
        </p:spPr>
      </p:sp>
      <p:sp>
        <p:nvSpPr>
          <p:cNvPr id="24" name="Shape 24"/>
          <p:cNvSpPr/>
          <p:nvPr/>
        </p:nvSpPr>
        <p:spPr>
          <a:xfrm>
            <a:off x="9491472" y="2770632"/>
            <a:ext cx="178308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300" dirty="0" b="1">
                <a:solidFill>
                  <a:srgbClr val="6D28D9"/>
                </a:solidFill>
                <a:latin typeface="Aptos"/>
                <a:cs typeface="Aptos"/>
              </a:rPr>
              <a:t>5+</a:t>
            </a:r>
          </a:p>
        </p:txBody>
      </p:sp>
      <p:sp>
        <p:nvSpPr>
          <p:cNvPr id="25" name="Shape 25"/>
          <p:cNvSpPr/>
          <p:nvPr/>
        </p:nvSpPr>
        <p:spPr>
          <a:xfrm>
            <a:off x="9509760" y="3136392"/>
            <a:ext cx="17830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000" dirty="0">
                <a:solidFill>
                  <a:srgbClr val="64748B"/>
                </a:solidFill>
                <a:latin typeface="Aptos"/>
                <a:cs typeface="Aptos"/>
              </a:rPr>
              <a:t>data/infra systems</a:t>
            </a:r>
          </a:p>
        </p:txBody>
      </p:sp>
      <p:sp>
        <p:nvSpPr>
          <p:cNvPr id="26" name="Shape 26"/>
          <p:cNvSpPr/>
          <p:nvPr/>
        </p:nvSpPr>
        <p:spPr>
          <a:xfrm>
            <a:off x="822960" y="4133088"/>
            <a:ext cx="5029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7" name="Shape 27"/>
          <p:cNvSpPr/>
          <p:nvPr/>
        </p:nvSpPr>
        <p:spPr>
          <a:xfrm>
            <a:off x="969264" y="4297680"/>
            <a:ext cx="109728" cy="76809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28" name="Shape 28"/>
          <p:cNvSpPr/>
          <p:nvPr/>
        </p:nvSpPr>
        <p:spPr>
          <a:xfrm>
            <a:off x="1207008" y="4297680"/>
            <a:ext cx="44622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Submitted By</a:t>
            </a:r>
          </a:p>
        </p:txBody>
      </p:sp>
      <p:sp>
        <p:nvSpPr>
          <p:cNvPr id="29" name="Shape 29"/>
          <p:cNvSpPr/>
          <p:nvPr/>
        </p:nvSpPr>
        <p:spPr>
          <a:xfrm>
            <a:off x="1207008" y="4636008"/>
            <a:ext cx="4462272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Parag Gulati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Master of Computer Applications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Final Year Project | 2026</a:t>
            </a:r>
          </a:p>
        </p:txBody>
      </p:sp>
      <p:sp>
        <p:nvSpPr>
          <p:cNvPr id="30" name="Shape 30"/>
          <p:cNvSpPr/>
          <p:nvPr/>
        </p:nvSpPr>
        <p:spPr>
          <a:xfrm>
            <a:off x="6172200" y="4133088"/>
            <a:ext cx="4572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31" name="Shape 31"/>
          <p:cNvSpPr/>
          <p:nvPr/>
        </p:nvSpPr>
        <p:spPr>
          <a:xfrm>
            <a:off x="6318504" y="4297680"/>
            <a:ext cx="109728" cy="76809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32" name="Shape 32"/>
          <p:cNvSpPr/>
          <p:nvPr/>
        </p:nvSpPr>
        <p:spPr>
          <a:xfrm>
            <a:off x="6556248" y="4297680"/>
            <a:ext cx="4005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Project Source</a:t>
            </a:r>
          </a:p>
        </p:txBody>
      </p:sp>
      <p:sp>
        <p:nvSpPr>
          <p:cNvPr id="33" name="Shape 33"/>
          <p:cNvSpPr/>
          <p:nvPr/>
        </p:nvSpPr>
        <p:spPr>
          <a:xfrm>
            <a:off x="6556248" y="4636008"/>
            <a:ext cx="4005072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Repository code, final report, API catalog, docs, database schemas, runbooks, and frontend routes</a:t>
            </a:r>
          </a:p>
        </p:txBody>
      </p:sp>
      <p:sp>
        <p:nvSpPr>
          <p:cNvPr id="34" name="Shape 34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35" name="Shape 35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Project Introduction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What the platform is designed to demonstrate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234440"/>
            <a:ext cx="6949440" cy="5943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000" dirty="0" b="1">
                <a:solidFill>
                  <a:srgbClr val="132033"/>
                </a:solidFill>
                <a:latin typeface="Aptos"/>
                <a:cs typeface="Aptos"/>
              </a:rPr>
              <a:t>A modular ecommerce platform built around independent services, role-specific frontends, secure API access, and service-owned data.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2148840"/>
            <a:ext cx="3383280" cy="102412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8" name="Shape 8"/>
          <p:cNvSpPr/>
          <p:nvPr/>
        </p:nvSpPr>
        <p:spPr>
          <a:xfrm>
            <a:off x="877824" y="2313432"/>
            <a:ext cx="109728" cy="694944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9" name="Shape 9"/>
          <p:cNvSpPr/>
          <p:nvPr/>
        </p:nvSpPr>
        <p:spPr>
          <a:xfrm>
            <a:off x="1115568" y="231343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Buyer Experience</a:t>
            </a:r>
          </a:p>
        </p:txBody>
      </p:sp>
      <p:sp>
        <p:nvSpPr>
          <p:cNvPr id="10" name="Shape 10"/>
          <p:cNvSpPr/>
          <p:nvPr/>
        </p:nvSpPr>
        <p:spPr>
          <a:xfrm>
            <a:off x="1115568" y="2651760"/>
            <a:ext cx="2816352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Browse catalog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Search and categories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Wishlist, cart, checkout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Orders and profile</a:t>
            </a:r>
          </a:p>
        </p:txBody>
      </p:sp>
      <p:sp>
        <p:nvSpPr>
          <p:cNvPr id="11" name="Shape 11"/>
          <p:cNvSpPr/>
          <p:nvPr/>
        </p:nvSpPr>
        <p:spPr>
          <a:xfrm>
            <a:off x="4434840" y="2148840"/>
            <a:ext cx="3383280" cy="10241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581144" y="2313432"/>
            <a:ext cx="109728" cy="694944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13" name="Shape 13"/>
          <p:cNvSpPr/>
          <p:nvPr/>
        </p:nvSpPr>
        <p:spPr>
          <a:xfrm>
            <a:off x="4818888" y="231343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Seller Experience</a:t>
            </a:r>
          </a:p>
        </p:txBody>
      </p:sp>
      <p:sp>
        <p:nvSpPr>
          <p:cNvPr id="14" name="Shape 14"/>
          <p:cNvSpPr/>
          <p:nvPr/>
        </p:nvSpPr>
        <p:spPr>
          <a:xfrm>
            <a:off x="4818888" y="2651760"/>
            <a:ext cx="2816352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Product manager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Order fulfillment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Coupons and campaigns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Analytics, team, audit</a:t>
            </a:r>
          </a:p>
        </p:txBody>
      </p:sp>
      <p:sp>
        <p:nvSpPr>
          <p:cNvPr id="15" name="Shape 15"/>
          <p:cNvSpPr/>
          <p:nvPr/>
        </p:nvSpPr>
        <p:spPr>
          <a:xfrm>
            <a:off x="8138160" y="2148840"/>
            <a:ext cx="3383280" cy="102412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284464" y="2313432"/>
            <a:ext cx="109728" cy="694944"/>
          </a:xfrm>
          <a:prstGeom prst="rect">
            <a:avLst/>
          </a:prstGeom>
          <a:solidFill>
            <a:srgbClr val="6D28D9"/>
          </a:solidFill>
          <a:ln w="12700">
            <a:noFill/>
          </a:ln>
        </p:spPr>
      </p:sp>
      <p:sp>
        <p:nvSpPr>
          <p:cNvPr id="17" name="Shape 17"/>
          <p:cNvSpPr/>
          <p:nvPr/>
        </p:nvSpPr>
        <p:spPr>
          <a:xfrm>
            <a:off x="8522208" y="231343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Admin Experience</a:t>
            </a:r>
          </a:p>
        </p:txBody>
      </p:sp>
      <p:sp>
        <p:nvSpPr>
          <p:cNvPr id="18" name="Shape 18"/>
          <p:cNvSpPr/>
          <p:nvPr/>
        </p:nvSpPr>
        <p:spPr>
          <a:xfrm>
            <a:off x="8522208" y="2651760"/>
            <a:ext cx="2816352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Session analytics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User/seller controls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Payment/refund review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Settings and audit logs</a:t>
            </a:r>
          </a:p>
        </p:txBody>
      </p:sp>
      <p:sp>
        <p:nvSpPr>
          <p:cNvPr id="19" name="Shape 19"/>
          <p:cNvSpPr/>
          <p:nvPr/>
        </p:nvSpPr>
        <p:spPr>
          <a:xfrm>
            <a:off x="731520" y="3730752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877824" y="3895344"/>
            <a:ext cx="109728" cy="996696"/>
          </a:xfrm>
          <a:prstGeom prst="rect">
            <a:avLst/>
          </a:prstGeom>
          <a:solidFill>
            <a:srgbClr val="12355B"/>
          </a:solidFill>
          <a:ln w="12700">
            <a:noFill/>
          </a:ln>
        </p:spPr>
      </p:sp>
      <p:sp>
        <p:nvSpPr>
          <p:cNvPr id="21" name="Shape 21"/>
          <p:cNvSpPr/>
          <p:nvPr/>
        </p:nvSpPr>
        <p:spPr>
          <a:xfrm>
            <a:off x="1115568" y="3895344"/>
            <a:ext cx="46451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Architecture Direction</a:t>
            </a:r>
          </a:p>
        </p:txBody>
      </p:sp>
      <p:sp>
        <p:nvSpPr>
          <p:cNvPr id="22" name="Shape 22"/>
          <p:cNvSpPr/>
          <p:nvPr/>
        </p:nvSpPr>
        <p:spPr>
          <a:xfrm>
            <a:off x="1115568" y="4233672"/>
            <a:ext cx="4645152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Public REST APIs through API Gateway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gRPC/protobuf contracts for typed internal communication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Events for asynchronous indexing, notification, and analytics workflows</a:t>
            </a:r>
          </a:p>
        </p:txBody>
      </p:sp>
      <p:sp>
        <p:nvSpPr>
          <p:cNvPr id="23" name="Shape 23"/>
          <p:cNvSpPr/>
          <p:nvPr/>
        </p:nvSpPr>
        <p:spPr>
          <a:xfrm>
            <a:off x="6263640" y="3730752"/>
            <a:ext cx="5212080" cy="13258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6409944" y="3895344"/>
            <a:ext cx="109728" cy="996696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25" name="Shape 25"/>
          <p:cNvSpPr/>
          <p:nvPr/>
        </p:nvSpPr>
        <p:spPr>
          <a:xfrm>
            <a:off x="6647688" y="3895344"/>
            <a:ext cx="46451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Academic Value</a:t>
            </a:r>
          </a:p>
        </p:txBody>
      </p:sp>
      <p:sp>
        <p:nvSpPr>
          <p:cNvPr id="26" name="Shape 26"/>
          <p:cNvSpPr/>
          <p:nvPr/>
        </p:nvSpPr>
        <p:spPr>
          <a:xfrm>
            <a:off x="6647688" y="4233672"/>
            <a:ext cx="4645152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Covers requirement analysis, architecture, database design, backend, frontend, DevOps, testing, limitations, and future scope</a:t>
            </a:r>
          </a:p>
        </p:txBody>
      </p:sp>
      <p:sp>
        <p:nvSpPr>
          <p:cNvPr id="27" name="Shape 27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28" name="Shape 28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Problem Statement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Why the project is required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731520" y="1170432"/>
            <a:ext cx="1024128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800" dirty="0" b="1">
                <a:solidFill>
                  <a:srgbClr val="132033"/>
                </a:solidFill>
                <a:latin typeface="Aptos"/>
                <a:cs typeface="Aptos"/>
              </a:rPr>
              <a:t>A growing ecommerce system must support shopping, seller operations, payments, analytics, and administration without becoming a tightly coupled monolith.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965960"/>
            <a:ext cx="2606040" cy="12618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8" name="Shape 8"/>
          <p:cNvSpPr/>
          <p:nvPr/>
        </p:nvSpPr>
        <p:spPr>
          <a:xfrm>
            <a:off x="877824" y="2130552"/>
            <a:ext cx="109728" cy="932688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9" name="Shape 9"/>
          <p:cNvSpPr/>
          <p:nvPr/>
        </p:nvSpPr>
        <p:spPr>
          <a:xfrm>
            <a:off x="1115568" y="2130552"/>
            <a:ext cx="203911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Scaling Pressure</a:t>
            </a:r>
          </a:p>
        </p:txBody>
      </p:sp>
      <p:sp>
        <p:nvSpPr>
          <p:cNvPr id="10" name="Shape 10"/>
          <p:cNvSpPr/>
          <p:nvPr/>
        </p:nvSpPr>
        <p:spPr>
          <a:xfrm>
            <a:off x="1115568" y="2468880"/>
            <a:ext cx="2039112" cy="62179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Catalog, search, checkout, and analytics have different load patterns.</a:t>
            </a:r>
          </a:p>
        </p:txBody>
      </p:sp>
      <p:sp>
        <p:nvSpPr>
          <p:cNvPr id="11" name="Shape 11"/>
          <p:cNvSpPr/>
          <p:nvPr/>
        </p:nvSpPr>
        <p:spPr>
          <a:xfrm>
            <a:off x="3611880" y="1965960"/>
            <a:ext cx="2606040" cy="126187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3758184" y="2130552"/>
            <a:ext cx="109728" cy="932688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</p:sp>
      <p:sp>
        <p:nvSpPr>
          <p:cNvPr id="13" name="Shape 13"/>
          <p:cNvSpPr/>
          <p:nvPr/>
        </p:nvSpPr>
        <p:spPr>
          <a:xfrm>
            <a:off x="3995928" y="2130552"/>
            <a:ext cx="203911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Tight Coupling</a:t>
            </a:r>
          </a:p>
        </p:txBody>
      </p:sp>
      <p:sp>
        <p:nvSpPr>
          <p:cNvPr id="14" name="Shape 14"/>
          <p:cNvSpPr/>
          <p:nvPr/>
        </p:nvSpPr>
        <p:spPr>
          <a:xfrm>
            <a:off x="3995928" y="2468880"/>
            <a:ext cx="2039112" cy="62179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 shared database and one codebase make changes risky.</a:t>
            </a:r>
          </a:p>
        </p:txBody>
      </p:sp>
      <p:sp>
        <p:nvSpPr>
          <p:cNvPr id="15" name="Shape 15"/>
          <p:cNvSpPr/>
          <p:nvPr/>
        </p:nvSpPr>
        <p:spPr>
          <a:xfrm>
            <a:off x="6492240" y="1965960"/>
            <a:ext cx="2606040" cy="126187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6638544" y="2130552"/>
            <a:ext cx="109728" cy="932688"/>
          </a:xfrm>
          <a:prstGeom prst="rect">
            <a:avLst/>
          </a:prstGeom>
          <a:solidFill>
            <a:srgbClr val="6D28D9"/>
          </a:solidFill>
          <a:ln w="12700">
            <a:noFill/>
          </a:ln>
        </p:spPr>
      </p:sp>
      <p:sp>
        <p:nvSpPr>
          <p:cNvPr id="17" name="Shape 17"/>
          <p:cNvSpPr/>
          <p:nvPr/>
        </p:nvSpPr>
        <p:spPr>
          <a:xfrm>
            <a:off x="6876288" y="2130552"/>
            <a:ext cx="203911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Operational Gaps</a:t>
            </a:r>
          </a:p>
        </p:txBody>
      </p:sp>
      <p:sp>
        <p:nvSpPr>
          <p:cNvPr id="18" name="Shape 18"/>
          <p:cNvSpPr/>
          <p:nvPr/>
        </p:nvSpPr>
        <p:spPr>
          <a:xfrm>
            <a:off x="6876288" y="2468880"/>
            <a:ext cx="2039112" cy="62179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Admins need visibility into users, sessions, payments, and audit history.</a:t>
            </a:r>
          </a:p>
        </p:txBody>
      </p:sp>
      <p:sp>
        <p:nvSpPr>
          <p:cNvPr id="19" name="Shape 19"/>
          <p:cNvSpPr/>
          <p:nvPr/>
        </p:nvSpPr>
        <p:spPr>
          <a:xfrm>
            <a:off x="9372600" y="1965960"/>
            <a:ext cx="2057400" cy="126187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9518904" y="2130552"/>
            <a:ext cx="109728" cy="93268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21" name="Shape 21"/>
          <p:cNvSpPr/>
          <p:nvPr/>
        </p:nvSpPr>
        <p:spPr>
          <a:xfrm>
            <a:off x="9756648" y="2130552"/>
            <a:ext cx="14904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Reliability</a:t>
            </a:r>
          </a:p>
        </p:txBody>
      </p:sp>
      <p:sp>
        <p:nvSpPr>
          <p:cNvPr id="22" name="Shape 22"/>
          <p:cNvSpPr/>
          <p:nvPr/>
        </p:nvSpPr>
        <p:spPr>
          <a:xfrm>
            <a:off x="9756648" y="2468880"/>
            <a:ext cx="1490472" cy="62179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Checkout and payment flows require idempotency and webhook handling.</a:t>
            </a:r>
          </a:p>
        </p:txBody>
      </p:sp>
      <p:sp>
        <p:nvSpPr>
          <p:cNvPr id="23" name="Shape 23"/>
          <p:cNvSpPr/>
          <p:nvPr/>
        </p:nvSpPr>
        <p:spPr>
          <a:xfrm>
            <a:off x="960120" y="3959352"/>
            <a:ext cx="10332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1261872" y="4224528"/>
            <a:ext cx="9601200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1600" dirty="0" b="1">
                <a:solidFill>
                  <a:srgbClr val="132033"/>
                </a:solidFill>
                <a:latin typeface="Aptos"/>
                <a:cs typeface="Aptos"/>
              </a:rPr>
              <a:t>The project solves this by separating business areas into services, routing requests through an API Gateway, assigning data ownership per service, and documenting the full platform for academic evaluation.</a:t>
            </a:r>
          </a:p>
        </p:txBody>
      </p:sp>
      <p:sp>
        <p:nvSpPr>
          <p:cNvPr id="25" name="Shape 25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26" name="Shape 26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Objectives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Main implementation goals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234440"/>
            <a:ext cx="3429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32104" y="1399032"/>
            <a:ext cx="109728" cy="67665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8" name="Shape 8"/>
          <p:cNvSpPr/>
          <p:nvPr/>
        </p:nvSpPr>
        <p:spPr>
          <a:xfrm>
            <a:off x="1069848" y="1399032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Modular Backend</a:t>
            </a:r>
          </a:p>
        </p:txBody>
      </p:sp>
      <p:sp>
        <p:nvSpPr>
          <p:cNvPr id="9" name="Shape 9"/>
          <p:cNvSpPr/>
          <p:nvPr/>
        </p:nvSpPr>
        <p:spPr>
          <a:xfrm>
            <a:off x="1069848" y="1737360"/>
            <a:ext cx="2862072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Create independent services for auth, users, catalog, cart, wishlist, order, payment, search, CMS, analytics, notification, recommendation, and superadmin.</a:t>
            </a:r>
          </a:p>
        </p:txBody>
      </p:sp>
      <p:sp>
        <p:nvSpPr>
          <p:cNvPr id="10" name="Shape 10"/>
          <p:cNvSpPr/>
          <p:nvPr/>
        </p:nvSpPr>
        <p:spPr>
          <a:xfrm>
            <a:off x="4389120" y="1234440"/>
            <a:ext cx="3429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535424" y="1399032"/>
            <a:ext cx="109728" cy="67665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12" name="Shape 12"/>
          <p:cNvSpPr/>
          <p:nvPr/>
        </p:nvSpPr>
        <p:spPr>
          <a:xfrm>
            <a:off x="4773168" y="1399032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Secure Access</a:t>
            </a:r>
          </a:p>
        </p:txBody>
      </p:sp>
      <p:sp>
        <p:nvSpPr>
          <p:cNvPr id="13" name="Shape 13"/>
          <p:cNvSpPr/>
          <p:nvPr/>
        </p:nvSpPr>
        <p:spPr>
          <a:xfrm>
            <a:off x="4773168" y="1737360"/>
            <a:ext cx="2862072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Use JWT, refresh tokens, OTP, role mapping, protected routes, and RBAC for buyer, seller, admin, and superadmin flows.</a:t>
            </a:r>
          </a:p>
        </p:txBody>
      </p:sp>
      <p:sp>
        <p:nvSpPr>
          <p:cNvPr id="14" name="Shape 14"/>
          <p:cNvSpPr/>
          <p:nvPr/>
        </p:nvSpPr>
        <p:spPr>
          <a:xfrm>
            <a:off x="8092440" y="1234440"/>
            <a:ext cx="3429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238744" y="1399032"/>
            <a:ext cx="109728" cy="676656"/>
          </a:xfrm>
          <a:prstGeom prst="rect">
            <a:avLst/>
          </a:prstGeom>
          <a:solidFill>
            <a:srgbClr val="6D28D9"/>
          </a:solidFill>
          <a:ln w="12700">
            <a:noFill/>
          </a:ln>
        </p:spPr>
      </p:sp>
      <p:sp>
        <p:nvSpPr>
          <p:cNvPr id="16" name="Shape 16"/>
          <p:cNvSpPr/>
          <p:nvPr/>
        </p:nvSpPr>
        <p:spPr>
          <a:xfrm>
            <a:off x="8476488" y="1399032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Role-Based UIs</a:t>
            </a:r>
          </a:p>
        </p:txBody>
      </p:sp>
      <p:sp>
        <p:nvSpPr>
          <p:cNvPr id="17" name="Shape 17"/>
          <p:cNvSpPr/>
          <p:nvPr/>
        </p:nvSpPr>
        <p:spPr>
          <a:xfrm>
            <a:off x="8476488" y="1737360"/>
            <a:ext cx="2862072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Provide separate React frontends for buyers, sellers, session analytics admins, and superadmins.</a:t>
            </a:r>
          </a:p>
        </p:txBody>
      </p:sp>
      <p:sp>
        <p:nvSpPr>
          <p:cNvPr id="18" name="Shape 18"/>
          <p:cNvSpPr/>
          <p:nvPr/>
        </p:nvSpPr>
        <p:spPr>
          <a:xfrm>
            <a:off x="685800" y="2743200"/>
            <a:ext cx="3429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832104" y="2907792"/>
            <a:ext cx="109728" cy="676656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20" name="Shape 20"/>
          <p:cNvSpPr/>
          <p:nvPr/>
        </p:nvSpPr>
        <p:spPr>
          <a:xfrm>
            <a:off x="1069848" y="2907792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Service-Owned Data</a:t>
            </a:r>
          </a:p>
        </p:txBody>
      </p:sp>
      <p:sp>
        <p:nvSpPr>
          <p:cNvPr id="21" name="Shape 21"/>
          <p:cNvSpPr/>
          <p:nvPr/>
        </p:nvSpPr>
        <p:spPr>
          <a:xfrm>
            <a:off x="1069848" y="3246120"/>
            <a:ext cx="2862072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Use MySQL, MongoDB, Redis, Typesense, and queues according to each workload.</a:t>
            </a:r>
          </a:p>
        </p:txBody>
      </p:sp>
      <p:sp>
        <p:nvSpPr>
          <p:cNvPr id="22" name="Shape 22"/>
          <p:cNvSpPr/>
          <p:nvPr/>
        </p:nvSpPr>
        <p:spPr>
          <a:xfrm>
            <a:off x="4389120" y="2743200"/>
            <a:ext cx="3429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3" name="Shape 23"/>
          <p:cNvSpPr/>
          <p:nvPr/>
        </p:nvSpPr>
        <p:spPr>
          <a:xfrm>
            <a:off x="4535424" y="2907792"/>
            <a:ext cx="109728" cy="676656"/>
          </a:xfrm>
          <a:prstGeom prst="rect">
            <a:avLst/>
          </a:prstGeom>
          <a:solidFill>
            <a:srgbClr val="16A34A"/>
          </a:solidFill>
          <a:ln w="12700">
            <a:noFill/>
          </a:ln>
        </p:spPr>
      </p:sp>
      <p:sp>
        <p:nvSpPr>
          <p:cNvPr id="24" name="Shape 24"/>
          <p:cNvSpPr/>
          <p:nvPr/>
        </p:nvSpPr>
        <p:spPr>
          <a:xfrm>
            <a:off x="4773168" y="2907792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Reliable Checkout</a:t>
            </a:r>
          </a:p>
        </p:txBody>
      </p:sp>
      <p:sp>
        <p:nvSpPr>
          <p:cNvPr id="25" name="Shape 25"/>
          <p:cNvSpPr/>
          <p:nvPr/>
        </p:nvSpPr>
        <p:spPr>
          <a:xfrm>
            <a:off x="4773168" y="3246120"/>
            <a:ext cx="2862072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Coordinate cart, product inventory, orders, payment intent, webhook status, and notifications.</a:t>
            </a:r>
          </a:p>
        </p:txBody>
      </p:sp>
      <p:sp>
        <p:nvSpPr>
          <p:cNvPr id="26" name="Shape 26"/>
          <p:cNvSpPr/>
          <p:nvPr/>
        </p:nvSpPr>
        <p:spPr>
          <a:xfrm>
            <a:off x="8092440" y="2743200"/>
            <a:ext cx="3429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7" name="Shape 27"/>
          <p:cNvSpPr/>
          <p:nvPr/>
        </p:nvSpPr>
        <p:spPr>
          <a:xfrm>
            <a:off x="8238744" y="2907792"/>
            <a:ext cx="109728" cy="676656"/>
          </a:xfrm>
          <a:prstGeom prst="rect">
            <a:avLst/>
          </a:prstGeom>
          <a:solidFill>
            <a:srgbClr val="12355B"/>
          </a:solidFill>
          <a:ln w="12700">
            <a:noFill/>
          </a:ln>
        </p:spPr>
      </p:sp>
      <p:sp>
        <p:nvSpPr>
          <p:cNvPr id="28" name="Shape 28"/>
          <p:cNvSpPr/>
          <p:nvPr/>
        </p:nvSpPr>
        <p:spPr>
          <a:xfrm>
            <a:off x="8476488" y="2907792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Deploy and Validate</a:t>
            </a:r>
          </a:p>
        </p:txBody>
      </p:sp>
      <p:sp>
        <p:nvSpPr>
          <p:cNvPr id="29" name="Shape 29"/>
          <p:cNvSpPr/>
          <p:nvPr/>
        </p:nvSpPr>
        <p:spPr>
          <a:xfrm>
            <a:off x="8476488" y="3246120"/>
            <a:ext cx="2862072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Support Docker Compose, Kubernetes/Kustomize manifests, CI checks, health endpoints, logs, metrics, and tracing.</a:t>
            </a:r>
          </a:p>
        </p:txBody>
      </p:sp>
      <p:sp>
        <p:nvSpPr>
          <p:cNvPr id="30" name="Shape 30"/>
          <p:cNvSpPr/>
          <p:nvPr/>
        </p:nvSpPr>
        <p:spPr>
          <a:xfrm>
            <a:off x="777240" y="4617720"/>
            <a:ext cx="10515600" cy="658368"/>
          </a:xfrm>
          <a:prstGeom prst="roundRect">
            <a:avLst/>
          </a:prstGeom>
          <a:solidFill>
            <a:srgbClr val="12355B"/>
          </a:solidFill>
          <a:ln w="12700">
            <a:noFill/>
          </a:ln>
        </p:spPr>
      </p:sp>
      <p:sp>
        <p:nvSpPr>
          <p:cNvPr id="31" name="Shape 31"/>
          <p:cNvSpPr/>
          <p:nvPr/>
        </p:nvSpPr>
        <p:spPr>
          <a:xfrm>
            <a:off x="1024128" y="4809744"/>
            <a:ext cx="99669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1300" dirty="0" b="1">
                <a:solidFill>
                  <a:srgbClr val="FFFFFF"/>
                </a:solidFill>
                <a:latin typeface="Aptos"/>
                <a:cs typeface="Aptos"/>
              </a:rPr>
              <a:t>Objective summary: build a college-submission-ready proof of modern ecommerce system design, implementation, and documentation.</a:t>
            </a:r>
          </a:p>
        </p:txBody>
      </p:sp>
      <p:sp>
        <p:nvSpPr>
          <p:cNvPr id="32" name="Shape 32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33" name="Shape 33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Scope of Project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Features included and boundaries documented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170432"/>
            <a:ext cx="3429000" cy="1417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32104" y="1335024"/>
            <a:ext cx="109728" cy="108813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8" name="Shape 8"/>
          <p:cNvSpPr/>
          <p:nvPr/>
        </p:nvSpPr>
        <p:spPr>
          <a:xfrm>
            <a:off x="1069848" y="1335024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Buyer Scope</a:t>
            </a:r>
          </a:p>
        </p:txBody>
      </p:sp>
      <p:sp>
        <p:nvSpPr>
          <p:cNvPr id="9" name="Shape 9"/>
          <p:cNvSpPr/>
          <p:nvPr/>
        </p:nvSpPr>
        <p:spPr>
          <a:xfrm>
            <a:off x="1069848" y="1673352"/>
            <a:ext cx="2862072" cy="77724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Login/register/OTP/reset pages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Home, categories, deals, search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Product detail, wishlist, cart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Checkout, payment result, orders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Profile, addresses, notifications</a:t>
            </a:r>
          </a:p>
        </p:txBody>
      </p:sp>
      <p:sp>
        <p:nvSpPr>
          <p:cNvPr id="10" name="Shape 10"/>
          <p:cNvSpPr/>
          <p:nvPr/>
        </p:nvSpPr>
        <p:spPr>
          <a:xfrm>
            <a:off x="4389120" y="1170432"/>
            <a:ext cx="3429000" cy="1417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535424" y="1335024"/>
            <a:ext cx="109728" cy="108813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12" name="Shape 12"/>
          <p:cNvSpPr/>
          <p:nvPr/>
        </p:nvSpPr>
        <p:spPr>
          <a:xfrm>
            <a:off x="4773168" y="1335024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Seller Scope</a:t>
            </a:r>
          </a:p>
        </p:txBody>
      </p:sp>
      <p:sp>
        <p:nvSpPr>
          <p:cNvPr id="13" name="Shape 13"/>
          <p:cNvSpPr/>
          <p:nvPr/>
        </p:nvSpPr>
        <p:spPr>
          <a:xfrm>
            <a:off x="4773168" y="1673352"/>
            <a:ext cx="2862072" cy="77724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Seller login/session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Product list and editor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Orders and fulfillment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Coupons, campaigns, offers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Revenue analytics, team, audit</a:t>
            </a:r>
          </a:p>
        </p:txBody>
      </p:sp>
      <p:sp>
        <p:nvSpPr>
          <p:cNvPr id="14" name="Shape 14"/>
          <p:cNvSpPr/>
          <p:nvPr/>
        </p:nvSpPr>
        <p:spPr>
          <a:xfrm>
            <a:off x="8092440" y="1170432"/>
            <a:ext cx="342900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238744" y="1335024"/>
            <a:ext cx="109728" cy="1088136"/>
          </a:xfrm>
          <a:prstGeom prst="rect">
            <a:avLst/>
          </a:prstGeom>
          <a:solidFill>
            <a:srgbClr val="6D28D9"/>
          </a:solidFill>
          <a:ln w="12700">
            <a:noFill/>
          </a:ln>
        </p:spPr>
      </p:sp>
      <p:sp>
        <p:nvSpPr>
          <p:cNvPr id="16" name="Shape 16"/>
          <p:cNvSpPr/>
          <p:nvPr/>
        </p:nvSpPr>
        <p:spPr>
          <a:xfrm>
            <a:off x="8476488" y="1335024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Admin Scope</a:t>
            </a:r>
          </a:p>
        </p:txBody>
      </p:sp>
      <p:sp>
        <p:nvSpPr>
          <p:cNvPr id="17" name="Shape 17"/>
          <p:cNvSpPr/>
          <p:nvPr/>
        </p:nvSpPr>
        <p:spPr>
          <a:xfrm>
            <a:off x="8476488" y="1673352"/>
            <a:ext cx="2862072" cy="77724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Session analytics dashboard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Superadmin users and sellers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Orders, payments, refunds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Settings and audit logs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Search route is a placeholder</a:t>
            </a:r>
          </a:p>
        </p:txBody>
      </p:sp>
      <p:sp>
        <p:nvSpPr>
          <p:cNvPr id="18" name="Shape 18"/>
          <p:cNvSpPr/>
          <p:nvPr/>
        </p:nvSpPr>
        <p:spPr>
          <a:xfrm>
            <a:off x="685800" y="3127248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832104" y="3291840"/>
            <a:ext cx="109728" cy="905256"/>
          </a:xfrm>
          <a:prstGeom prst="rect">
            <a:avLst/>
          </a:prstGeom>
          <a:solidFill>
            <a:srgbClr val="12355B"/>
          </a:solidFill>
          <a:ln w="12700">
            <a:noFill/>
          </a:ln>
        </p:spPr>
      </p:sp>
      <p:sp>
        <p:nvSpPr>
          <p:cNvPr id="20" name="Shape 20"/>
          <p:cNvSpPr/>
          <p:nvPr/>
        </p:nvSpPr>
        <p:spPr>
          <a:xfrm>
            <a:off x="1069848" y="3291840"/>
            <a:ext cx="46908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Engineering Scope</a:t>
            </a:r>
          </a:p>
        </p:txBody>
      </p:sp>
      <p:sp>
        <p:nvSpPr>
          <p:cNvPr id="21" name="Shape 21"/>
          <p:cNvSpPr/>
          <p:nvPr/>
        </p:nvSpPr>
        <p:spPr>
          <a:xfrm>
            <a:off x="1069848" y="3630168"/>
            <a:ext cx="4690872" cy="5943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14 backend services, 99 API catalog endpoints, database schema files, protobuf contracts, Docker Compose, Kubernetes manifests, observability config, runbooks, and CI.</a:t>
            </a:r>
          </a:p>
        </p:txBody>
      </p:sp>
      <p:sp>
        <p:nvSpPr>
          <p:cNvPr id="22" name="Shape 22"/>
          <p:cNvSpPr/>
          <p:nvPr/>
        </p:nvSpPr>
        <p:spPr>
          <a:xfrm>
            <a:off x="6263640" y="3127248"/>
            <a:ext cx="5257800" cy="12344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</p:sp>
      <p:sp>
        <p:nvSpPr>
          <p:cNvPr id="23" name="Shape 23"/>
          <p:cNvSpPr/>
          <p:nvPr/>
        </p:nvSpPr>
        <p:spPr>
          <a:xfrm>
            <a:off x="6409944" y="3291840"/>
            <a:ext cx="109728" cy="905256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</p:sp>
      <p:sp>
        <p:nvSpPr>
          <p:cNvPr id="24" name="Shape 24"/>
          <p:cNvSpPr/>
          <p:nvPr/>
        </p:nvSpPr>
        <p:spPr>
          <a:xfrm>
            <a:off x="6647688" y="3291840"/>
            <a:ext cx="46908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Clearly Not Claimed</a:t>
            </a:r>
          </a:p>
        </p:txBody>
      </p:sp>
      <p:sp>
        <p:nvSpPr>
          <p:cNvPr id="25" name="Shape 25"/>
          <p:cNvSpPr/>
          <p:nvPr/>
        </p:nvSpPr>
        <p:spPr>
          <a:xfrm>
            <a:off x="6647688" y="3630168"/>
            <a:ext cx="4690872" cy="5943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No fake credentials, no fake screenshots, no production payment keys, no proven live production deployment, and no full browser E2E suite found.</a:t>
            </a:r>
          </a:p>
        </p:txBody>
      </p:sp>
      <p:sp>
        <p:nvSpPr>
          <p:cNvPr id="26" name="Shape 26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27" name="Shape 2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Technology Stack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Tools identified from project source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731520" y="1143000"/>
            <a:ext cx="3291840" cy="3886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77824" y="1307592"/>
            <a:ext cx="109728" cy="3557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8" name="Shape 8"/>
          <p:cNvSpPr/>
          <p:nvPr/>
        </p:nvSpPr>
        <p:spPr>
          <a:xfrm>
            <a:off x="1115568" y="1307592"/>
            <a:ext cx="272491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Frontend</a:t>
            </a:r>
          </a:p>
        </p:txBody>
      </p:sp>
      <p:sp>
        <p:nvSpPr>
          <p:cNvPr id="9" name="Shape 9"/>
          <p:cNvSpPr/>
          <p:nvPr/>
        </p:nvSpPr>
        <p:spPr>
          <a:xfrm>
            <a:off x="1115568" y="1645920"/>
            <a:ext cx="2724912" cy="32461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React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TypeScript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Vite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React Router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TanStack Query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Zustand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React Hook Form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Zod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Tailwind CSS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Lucide icons</a:t>
            </a:r>
          </a:p>
        </p:txBody>
      </p:sp>
      <p:sp>
        <p:nvSpPr>
          <p:cNvPr id="10" name="Shape 10"/>
          <p:cNvSpPr/>
          <p:nvPr/>
        </p:nvSpPr>
        <p:spPr>
          <a:xfrm>
            <a:off x="4434840" y="1143000"/>
            <a:ext cx="3291840" cy="3886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581144" y="1307592"/>
            <a:ext cx="109728" cy="355701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12" name="Shape 12"/>
          <p:cNvSpPr/>
          <p:nvPr/>
        </p:nvSpPr>
        <p:spPr>
          <a:xfrm>
            <a:off x="4818888" y="1307592"/>
            <a:ext cx="272491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Backend and APIs</a:t>
            </a:r>
          </a:p>
        </p:txBody>
      </p:sp>
      <p:sp>
        <p:nvSpPr>
          <p:cNvPr id="13" name="Shape 13"/>
          <p:cNvSpPr/>
          <p:nvPr/>
        </p:nvSpPr>
        <p:spPr>
          <a:xfrm>
            <a:off x="4818888" y="1645920"/>
            <a:ext cx="2724912" cy="32461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Go microservices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REST through API Gateway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gRPC/protobuf contracts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gRPC-Web facade support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JWT and RBAC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Request validation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Health endpoints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Service runbooks</a:t>
            </a:r>
          </a:p>
        </p:txBody>
      </p:sp>
      <p:sp>
        <p:nvSpPr>
          <p:cNvPr id="14" name="Shape 14"/>
          <p:cNvSpPr/>
          <p:nvPr/>
        </p:nvSpPr>
        <p:spPr>
          <a:xfrm>
            <a:off x="8138160" y="1143000"/>
            <a:ext cx="3291840" cy="38862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284464" y="1307592"/>
            <a:ext cx="109728" cy="3557016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16" name="Shape 16"/>
          <p:cNvSpPr/>
          <p:nvPr/>
        </p:nvSpPr>
        <p:spPr>
          <a:xfrm>
            <a:off x="8522208" y="1307592"/>
            <a:ext cx="272491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Data, Infra, DevOps</a:t>
            </a:r>
          </a:p>
        </p:txBody>
      </p:sp>
      <p:sp>
        <p:nvSpPr>
          <p:cNvPr id="17" name="Shape 17"/>
          <p:cNvSpPr/>
          <p:nvPr/>
        </p:nvSpPr>
        <p:spPr>
          <a:xfrm>
            <a:off x="8522208" y="1645920"/>
            <a:ext cx="2724912" cy="32461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MySQL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MongoDB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Redis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Typesense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RabbitMQ/Kafka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Docker Compose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Kubernetes/Kustomize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Prometheus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OpenTelemetry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Jaeger</a:t>
            </a:r>
          </a:p>
        </p:txBody>
      </p:sp>
      <p:sp>
        <p:nvSpPr>
          <p:cNvPr id="18" name="Shape 18"/>
          <p:cNvSpPr/>
          <p:nvPr/>
        </p:nvSpPr>
        <p:spPr>
          <a:xfrm>
            <a:off x="960120" y="5440680"/>
            <a:ext cx="10332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1143000" y="5513832"/>
            <a:ext cx="9966960" cy="14630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Design principle: each major business capability owns its data and exposes behavior through APIs, not direct cross-service database access.</a:t>
            </a:r>
          </a:p>
        </p:txBody>
      </p:sp>
      <p:sp>
        <p:nvSpPr>
          <p:cNvPr id="20" name="Shape 20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21" name="Shape 21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System Architecture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High-level request and service layout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18872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914400" y="1417320"/>
            <a:ext cx="201168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Frontend Clients</a:t>
            </a:r>
          </a:p>
        </p:txBody>
      </p:sp>
      <p:sp>
        <p:nvSpPr>
          <p:cNvPr id="8" name="Shape 8"/>
          <p:cNvSpPr/>
          <p:nvPr/>
        </p:nvSpPr>
        <p:spPr>
          <a:xfrm>
            <a:off x="960120" y="1828800"/>
            <a:ext cx="1920240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User App</a:t>
            </a:r>
          </a:p>
        </p:txBody>
      </p:sp>
      <p:sp>
        <p:nvSpPr>
          <p:cNvPr id="9" name="Shape 9"/>
          <p:cNvSpPr/>
          <p:nvPr/>
        </p:nvSpPr>
        <p:spPr>
          <a:xfrm>
            <a:off x="960120" y="2487168"/>
            <a:ext cx="1920240" cy="5120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Seller Dashboard</a:t>
            </a:r>
          </a:p>
        </p:txBody>
      </p:sp>
      <p:sp>
        <p:nvSpPr>
          <p:cNvPr id="10" name="Shape 10"/>
          <p:cNvSpPr/>
          <p:nvPr/>
        </p:nvSpPr>
        <p:spPr>
          <a:xfrm>
            <a:off x="960120" y="3145536"/>
            <a:ext cx="1920240" cy="512064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6D28D9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Analytics Dashboard</a:t>
            </a:r>
          </a:p>
        </p:txBody>
      </p:sp>
      <p:sp>
        <p:nvSpPr>
          <p:cNvPr id="11" name="Shape 11"/>
          <p:cNvSpPr/>
          <p:nvPr/>
        </p:nvSpPr>
        <p:spPr>
          <a:xfrm>
            <a:off x="960120" y="3803904"/>
            <a:ext cx="1920240" cy="512064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Superadmin Panel</a:t>
            </a:r>
          </a:p>
        </p:txBody>
      </p:sp>
      <p:sp>
        <p:nvSpPr>
          <p:cNvPr id="12" name="Shape 12"/>
          <p:cNvSpPr/>
          <p:nvPr/>
        </p:nvSpPr>
        <p:spPr>
          <a:xfrm>
            <a:off x="4160520" y="2487168"/>
            <a:ext cx="1874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55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API Gateway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3154680" y="2743200"/>
            <a:ext cx="100584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14" name="Shape 14"/>
          <p:cNvSpPr/>
          <p:nvPr/>
        </p:nvSpPr>
        <p:spPr>
          <a:xfrm>
            <a:off x="6812280" y="1188720"/>
            <a:ext cx="45262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7086600" y="1417320"/>
            <a:ext cx="397764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Business Services</a:t>
            </a:r>
          </a:p>
        </p:txBody>
      </p:sp>
      <p:sp>
        <p:nvSpPr>
          <p:cNvPr id="16" name="Shape 16"/>
          <p:cNvSpPr/>
          <p:nvPr/>
        </p:nvSpPr>
        <p:spPr>
          <a:xfrm>
            <a:off x="7086600" y="1783080"/>
            <a:ext cx="11430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800" dirty="0" b="1">
                <a:solidFill>
                  <a:srgbClr val="132033"/>
                </a:solidFill>
                <a:latin typeface="Aptos"/>
                <a:cs typeface="Aptos"/>
              </a:rPr>
              <a:t>Auth</a:t>
            </a:r>
          </a:p>
        </p:txBody>
      </p:sp>
      <p:sp>
        <p:nvSpPr>
          <p:cNvPr id="17" name="Shape 17"/>
          <p:cNvSpPr/>
          <p:nvPr/>
        </p:nvSpPr>
        <p:spPr>
          <a:xfrm>
            <a:off x="8412480" y="1783080"/>
            <a:ext cx="11430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800" dirty="0" b="1">
                <a:solidFill>
                  <a:srgbClr val="132033"/>
                </a:solidFill>
                <a:latin typeface="Aptos"/>
                <a:cs typeface="Aptos"/>
              </a:rPr>
              <a:t>User</a:t>
            </a:r>
          </a:p>
        </p:txBody>
      </p:sp>
      <p:sp>
        <p:nvSpPr>
          <p:cNvPr id="18" name="Shape 18"/>
          <p:cNvSpPr/>
          <p:nvPr/>
        </p:nvSpPr>
        <p:spPr>
          <a:xfrm>
            <a:off x="9738360" y="1783080"/>
            <a:ext cx="11430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800" dirty="0" b="1">
                <a:solidFill>
                  <a:srgbClr val="132033"/>
                </a:solidFill>
                <a:latin typeface="Aptos"/>
                <a:cs typeface="Aptos"/>
              </a:rPr>
              <a:t>Product</a:t>
            </a:r>
          </a:p>
        </p:txBody>
      </p:sp>
      <p:sp>
        <p:nvSpPr>
          <p:cNvPr id="19" name="Shape 19"/>
          <p:cNvSpPr/>
          <p:nvPr/>
        </p:nvSpPr>
        <p:spPr>
          <a:xfrm>
            <a:off x="7086600" y="2295144"/>
            <a:ext cx="11430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800" dirty="0" b="1">
                <a:solidFill>
                  <a:srgbClr val="132033"/>
                </a:solidFill>
                <a:latin typeface="Aptos"/>
                <a:cs typeface="Aptos"/>
              </a:rPr>
              <a:t>Cart</a:t>
            </a:r>
          </a:p>
        </p:txBody>
      </p:sp>
      <p:sp>
        <p:nvSpPr>
          <p:cNvPr id="20" name="Shape 20"/>
          <p:cNvSpPr/>
          <p:nvPr/>
        </p:nvSpPr>
        <p:spPr>
          <a:xfrm>
            <a:off x="8412480" y="2295144"/>
            <a:ext cx="11430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800" dirty="0" b="1">
                <a:solidFill>
                  <a:srgbClr val="132033"/>
                </a:solidFill>
                <a:latin typeface="Aptos"/>
                <a:cs typeface="Aptos"/>
              </a:rPr>
              <a:t>Wishlist</a:t>
            </a:r>
          </a:p>
        </p:txBody>
      </p:sp>
      <p:sp>
        <p:nvSpPr>
          <p:cNvPr id="21" name="Shape 21"/>
          <p:cNvSpPr/>
          <p:nvPr/>
        </p:nvSpPr>
        <p:spPr>
          <a:xfrm>
            <a:off x="9738360" y="2295144"/>
            <a:ext cx="11430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800" dirty="0" b="1">
                <a:solidFill>
                  <a:srgbClr val="132033"/>
                </a:solidFill>
                <a:latin typeface="Aptos"/>
                <a:cs typeface="Aptos"/>
              </a:rPr>
              <a:t>Search</a:t>
            </a:r>
          </a:p>
        </p:txBody>
      </p:sp>
      <p:sp>
        <p:nvSpPr>
          <p:cNvPr id="22" name="Shape 22"/>
          <p:cNvSpPr/>
          <p:nvPr/>
        </p:nvSpPr>
        <p:spPr>
          <a:xfrm>
            <a:off x="7086600" y="2807208"/>
            <a:ext cx="11430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800" dirty="0" b="1">
                <a:solidFill>
                  <a:srgbClr val="132033"/>
                </a:solidFill>
                <a:latin typeface="Aptos"/>
                <a:cs typeface="Aptos"/>
              </a:rPr>
              <a:t>Order</a:t>
            </a:r>
          </a:p>
        </p:txBody>
      </p:sp>
      <p:sp>
        <p:nvSpPr>
          <p:cNvPr id="23" name="Shape 23"/>
          <p:cNvSpPr/>
          <p:nvPr/>
        </p:nvSpPr>
        <p:spPr>
          <a:xfrm>
            <a:off x="8412480" y="2807208"/>
            <a:ext cx="11430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800" dirty="0" b="1">
                <a:solidFill>
                  <a:srgbClr val="132033"/>
                </a:solidFill>
                <a:latin typeface="Aptos"/>
                <a:cs typeface="Aptos"/>
              </a:rPr>
              <a:t>Payment</a:t>
            </a:r>
          </a:p>
        </p:txBody>
      </p:sp>
      <p:sp>
        <p:nvSpPr>
          <p:cNvPr id="24" name="Shape 24"/>
          <p:cNvSpPr/>
          <p:nvPr/>
        </p:nvSpPr>
        <p:spPr>
          <a:xfrm>
            <a:off x="9738360" y="2807208"/>
            <a:ext cx="11430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800" dirty="0" b="1">
                <a:solidFill>
                  <a:srgbClr val="132033"/>
                </a:solidFill>
                <a:latin typeface="Aptos"/>
                <a:cs typeface="Aptos"/>
              </a:rPr>
              <a:t>CMS</a:t>
            </a:r>
          </a:p>
        </p:txBody>
      </p:sp>
      <p:sp>
        <p:nvSpPr>
          <p:cNvPr id="25" name="Shape 25"/>
          <p:cNvSpPr/>
          <p:nvPr/>
        </p:nvSpPr>
        <p:spPr>
          <a:xfrm>
            <a:off x="7086600" y="3319272"/>
            <a:ext cx="11430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800" dirty="0" b="1">
                <a:solidFill>
                  <a:srgbClr val="132033"/>
                </a:solidFill>
                <a:latin typeface="Aptos"/>
                <a:cs typeface="Aptos"/>
              </a:rPr>
              <a:t>Session</a:t>
            </a:r>
          </a:p>
        </p:txBody>
      </p:sp>
      <p:sp>
        <p:nvSpPr>
          <p:cNvPr id="26" name="Shape 26"/>
          <p:cNvSpPr/>
          <p:nvPr/>
        </p:nvSpPr>
        <p:spPr>
          <a:xfrm>
            <a:off x="8412480" y="3319272"/>
            <a:ext cx="11430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800" dirty="0" b="1">
                <a:solidFill>
                  <a:srgbClr val="132033"/>
                </a:solidFill>
                <a:latin typeface="Aptos"/>
                <a:cs typeface="Aptos"/>
              </a:rPr>
              <a:t>Notification</a:t>
            </a:r>
          </a:p>
        </p:txBody>
      </p:sp>
      <p:sp>
        <p:nvSpPr>
          <p:cNvPr id="27" name="Shape 27"/>
          <p:cNvSpPr/>
          <p:nvPr/>
        </p:nvSpPr>
        <p:spPr>
          <a:xfrm>
            <a:off x="9738360" y="3319272"/>
            <a:ext cx="11430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800" dirty="0" b="1">
                <a:solidFill>
                  <a:srgbClr val="132033"/>
                </a:solidFill>
                <a:latin typeface="Aptos"/>
                <a:cs typeface="Aptos"/>
              </a:rPr>
              <a:t>Recommendation</a:t>
            </a:r>
          </a:p>
        </p:txBody>
      </p:sp>
      <p:sp>
        <p:nvSpPr>
          <p:cNvPr id="28" name="Shape 28"/>
          <p:cNvSpPr/>
          <p:nvPr/>
        </p:nvSpPr>
        <p:spPr>
          <a:xfrm>
            <a:off x="7086600" y="3831336"/>
            <a:ext cx="11430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800" dirty="0" b="1">
                <a:solidFill>
                  <a:srgbClr val="132033"/>
                </a:solidFill>
                <a:latin typeface="Aptos"/>
                <a:cs typeface="Aptos"/>
              </a:rPr>
              <a:t>Superadmin</a:t>
            </a:r>
          </a:p>
        </p:txBody>
      </p:sp>
      <p:cxnSp>
        <p:nvCxnSpPr>
          <p:cNvPr id="29" name="Connector 29"/>
          <p:cNvCxnSpPr/>
          <p:nvPr/>
        </p:nvCxnSpPr>
        <p:spPr>
          <a:xfrm>
            <a:off x="6035040" y="2743200"/>
            <a:ext cx="77724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30" name="Shape 30"/>
          <p:cNvSpPr/>
          <p:nvPr/>
        </p:nvSpPr>
        <p:spPr>
          <a:xfrm>
            <a:off x="1143000" y="5074920"/>
            <a:ext cx="9921240" cy="685800"/>
          </a:xfrm>
          <a:prstGeom prst="roundRect">
            <a:avLst/>
          </a:prstGeom>
          <a:solidFill>
            <a:srgbClr val="12355B"/>
          </a:solidFill>
          <a:ln w="12700">
            <a:noFill/>
          </a:ln>
        </p:spPr>
      </p:sp>
      <p:sp>
        <p:nvSpPr>
          <p:cNvPr id="31" name="Shape 31"/>
          <p:cNvSpPr/>
          <p:nvPr/>
        </p:nvSpPr>
        <p:spPr>
          <a:xfrm>
            <a:off x="1417320" y="5239512"/>
            <a:ext cx="9372600" cy="24688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1200" dirty="0" b="1">
                <a:solidFill>
                  <a:srgbClr val="FFFFFF"/>
                </a:solidFill>
                <a:latin typeface="Aptos"/>
                <a:cs typeface="Aptos"/>
              </a:rPr>
              <a:t>Data Stores and Async Infrastructure: MySQL | MongoDB | Redis | Typesense | RabbitMQ/Kafka | Mailpit | Prometheus | Jaeger</a:t>
            </a:r>
          </a:p>
        </p:txBody>
      </p:sp>
      <p:cxnSp>
        <p:nvCxnSpPr>
          <p:cNvPr id="32" name="Connector 32"/>
          <p:cNvCxnSpPr/>
          <p:nvPr/>
        </p:nvCxnSpPr>
        <p:spPr>
          <a:xfrm flipH="1">
            <a:off x="6400800" y="4617720"/>
            <a:ext cx="2651760" cy="457200"/>
          </a:xfrm>
          <a:prstGeom prst="line">
            <a:avLst/>
          </a:prstGeom>
          <a:ln w="12700">
            <a:solidFill>
              <a:srgbClr val="64748B"/>
            </a:solidFill>
            <a:headEnd type="triangle"/>
          </a:ln>
        </p:spPr>
      </p:cxnSp>
      <p:sp>
        <p:nvSpPr>
          <p:cNvPr id="33" name="Shape 33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34" name="Shape 34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Modules and Services Overview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Backend service inventory from the project folder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097280"/>
            <a:ext cx="2743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32104" y="1261872"/>
            <a:ext cx="109728" cy="1179576"/>
          </a:xfrm>
          <a:prstGeom prst="rect">
            <a:avLst/>
          </a:prstGeom>
          <a:solidFill>
            <a:srgbClr val="12355B"/>
          </a:solidFill>
          <a:ln w="12700">
            <a:noFill/>
          </a:ln>
        </p:spPr>
      </p:sp>
      <p:sp>
        <p:nvSpPr>
          <p:cNvPr id="8" name="Shape 8"/>
          <p:cNvSpPr/>
          <p:nvPr/>
        </p:nvSpPr>
        <p:spPr>
          <a:xfrm>
            <a:off x="1069848" y="1261872"/>
            <a:ext cx="21762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Access and Identity</a:t>
            </a:r>
          </a:p>
        </p:txBody>
      </p:sp>
      <p:sp>
        <p:nvSpPr>
          <p:cNvPr id="9" name="Shape 9"/>
          <p:cNvSpPr/>
          <p:nvPr/>
        </p:nvSpPr>
        <p:spPr>
          <a:xfrm>
            <a:off x="1069848" y="1600200"/>
            <a:ext cx="2176272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API Gateway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Auth Service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User Service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JWT, refresh tokens, OTP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Role mapping and protected routes</a:t>
            </a:r>
          </a:p>
        </p:txBody>
      </p:sp>
      <p:sp>
        <p:nvSpPr>
          <p:cNvPr id="10" name="Shape 10"/>
          <p:cNvSpPr/>
          <p:nvPr/>
        </p:nvSpPr>
        <p:spPr>
          <a:xfrm>
            <a:off x="3611880" y="1097280"/>
            <a:ext cx="2743200" cy="1508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3758184" y="1261872"/>
            <a:ext cx="109728" cy="117957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12" name="Shape 12"/>
          <p:cNvSpPr/>
          <p:nvPr/>
        </p:nvSpPr>
        <p:spPr>
          <a:xfrm>
            <a:off x="3995928" y="1261872"/>
            <a:ext cx="21762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Shopping Core</a:t>
            </a:r>
          </a:p>
        </p:txBody>
      </p:sp>
      <p:sp>
        <p:nvSpPr>
          <p:cNvPr id="13" name="Shape 13"/>
          <p:cNvSpPr/>
          <p:nvPr/>
        </p:nvSpPr>
        <p:spPr>
          <a:xfrm>
            <a:off x="3995928" y="1600200"/>
            <a:ext cx="2176272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Product Service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Cart Service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Wishlist Service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Search Service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Recommendation Service</a:t>
            </a:r>
          </a:p>
        </p:txBody>
      </p:sp>
      <p:sp>
        <p:nvSpPr>
          <p:cNvPr id="14" name="Shape 14"/>
          <p:cNvSpPr/>
          <p:nvPr/>
        </p:nvSpPr>
        <p:spPr>
          <a:xfrm>
            <a:off x="6537960" y="1097280"/>
            <a:ext cx="2514600" cy="15087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684264" y="1261872"/>
            <a:ext cx="109728" cy="1179576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16" name="Shape 16"/>
          <p:cNvSpPr/>
          <p:nvPr/>
        </p:nvSpPr>
        <p:spPr>
          <a:xfrm>
            <a:off x="6922008" y="1261872"/>
            <a:ext cx="19476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Order to Payment</a:t>
            </a:r>
          </a:p>
        </p:txBody>
      </p:sp>
      <p:sp>
        <p:nvSpPr>
          <p:cNvPr id="17" name="Shape 17"/>
          <p:cNvSpPr/>
          <p:nvPr/>
        </p:nvSpPr>
        <p:spPr>
          <a:xfrm>
            <a:off x="6922008" y="1600200"/>
            <a:ext cx="1947672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Order Service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Payment Service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Inventory coordination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Payment intents, refunds, webhooks</a:t>
            </a:r>
          </a:p>
        </p:txBody>
      </p:sp>
      <p:sp>
        <p:nvSpPr>
          <p:cNvPr id="18" name="Shape 18"/>
          <p:cNvSpPr/>
          <p:nvPr/>
        </p:nvSpPr>
        <p:spPr>
          <a:xfrm>
            <a:off x="9235440" y="1097280"/>
            <a:ext cx="2240280" cy="15087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9381744" y="1261872"/>
            <a:ext cx="109728" cy="1179576"/>
          </a:xfrm>
          <a:prstGeom prst="rect">
            <a:avLst/>
          </a:prstGeom>
          <a:solidFill>
            <a:srgbClr val="6D28D9"/>
          </a:solidFill>
          <a:ln w="12700">
            <a:noFill/>
          </a:ln>
        </p:spPr>
      </p:sp>
      <p:sp>
        <p:nvSpPr>
          <p:cNvPr id="20" name="Shape 20"/>
          <p:cNvSpPr/>
          <p:nvPr/>
        </p:nvSpPr>
        <p:spPr>
          <a:xfrm>
            <a:off x="9619488" y="1261872"/>
            <a:ext cx="1673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Operations</a:t>
            </a:r>
          </a:p>
        </p:txBody>
      </p:sp>
      <p:sp>
        <p:nvSpPr>
          <p:cNvPr id="21" name="Shape 21"/>
          <p:cNvSpPr/>
          <p:nvPr/>
        </p:nvSpPr>
        <p:spPr>
          <a:xfrm>
            <a:off x="9619488" y="1600200"/>
            <a:ext cx="1673352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CMS Service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Session Service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Notification Service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Superadmin Service</a:t>
            </a:r>
          </a:p>
        </p:txBody>
      </p:sp>
      <p:sp>
        <p:nvSpPr>
          <p:cNvPr id="22" name="Shape 22"/>
          <p:cNvSpPr/>
          <p:nvPr/>
        </p:nvSpPr>
        <p:spPr>
          <a:xfrm>
            <a:off x="777240" y="3246120"/>
            <a:ext cx="10561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3" name="Shape 23"/>
          <p:cNvSpPr/>
          <p:nvPr/>
        </p:nvSpPr>
        <p:spPr>
          <a:xfrm>
            <a:off x="1051560" y="3520440"/>
            <a:ext cx="21945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400" dirty="0" b="1">
                <a:solidFill>
                  <a:srgbClr val="132033"/>
                </a:solidFill>
                <a:latin typeface="Aptos"/>
                <a:cs typeface="Aptos"/>
              </a:rPr>
              <a:t>Route Ownership</a:t>
            </a:r>
          </a:p>
        </p:txBody>
      </p:sp>
      <p:sp>
        <p:nvSpPr>
          <p:cNvPr id="24" name="Shape 24"/>
          <p:cNvSpPr/>
          <p:nvPr/>
        </p:nvSpPr>
        <p:spPr>
          <a:xfrm>
            <a:off x="3383280" y="3456432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5" name="Shape 25"/>
          <p:cNvSpPr/>
          <p:nvPr/>
        </p:nvSpPr>
        <p:spPr>
          <a:xfrm>
            <a:off x="3493008" y="3602736"/>
            <a:ext cx="91440" cy="658368"/>
          </a:xfrm>
          <a:prstGeom prst="rect">
            <a:avLst/>
          </a:prstGeom>
          <a:solidFill>
            <a:srgbClr val="6D28D9"/>
          </a:solidFill>
          <a:ln w="12700">
            <a:noFill/>
          </a:ln>
        </p:spPr>
      </p:sp>
      <p:sp>
        <p:nvSpPr>
          <p:cNvPr id="26" name="Shape 26"/>
          <p:cNvSpPr/>
          <p:nvPr/>
        </p:nvSpPr>
        <p:spPr>
          <a:xfrm>
            <a:off x="3675888" y="3621024"/>
            <a:ext cx="114300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300" dirty="0" b="1">
                <a:solidFill>
                  <a:srgbClr val="6D28D9"/>
                </a:solidFill>
                <a:latin typeface="Aptos"/>
                <a:cs typeface="Aptos"/>
              </a:rPr>
              <a:t>42</a:t>
            </a:r>
          </a:p>
        </p:txBody>
      </p:sp>
      <p:sp>
        <p:nvSpPr>
          <p:cNvPr id="27" name="Shape 27"/>
          <p:cNvSpPr/>
          <p:nvPr/>
        </p:nvSpPr>
        <p:spPr>
          <a:xfrm>
            <a:off x="3694176" y="3986784"/>
            <a:ext cx="114300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000" dirty="0">
                <a:solidFill>
                  <a:srgbClr val="64748B"/>
                </a:solidFill>
                <a:latin typeface="Aptos"/>
                <a:cs typeface="Aptos"/>
              </a:rPr>
              <a:t>admin endpoints</a:t>
            </a:r>
          </a:p>
        </p:txBody>
      </p:sp>
      <p:sp>
        <p:nvSpPr>
          <p:cNvPr id="28" name="Shape 28"/>
          <p:cNvSpPr/>
          <p:nvPr/>
        </p:nvSpPr>
        <p:spPr>
          <a:xfrm>
            <a:off x="5212080" y="3456432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9" name="Shape 29"/>
          <p:cNvSpPr/>
          <p:nvPr/>
        </p:nvSpPr>
        <p:spPr>
          <a:xfrm>
            <a:off x="5321808" y="3602736"/>
            <a:ext cx="91440" cy="658368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0" name="Shape 30"/>
          <p:cNvSpPr/>
          <p:nvPr/>
        </p:nvSpPr>
        <p:spPr>
          <a:xfrm>
            <a:off x="5504688" y="3621024"/>
            <a:ext cx="114300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300" dirty="0" b="1">
                <a:solidFill>
                  <a:srgbClr val="0F766E"/>
                </a:solidFill>
                <a:latin typeface="Aptos"/>
                <a:cs typeface="Aptos"/>
              </a:rPr>
              <a:t>24</a:t>
            </a:r>
          </a:p>
        </p:txBody>
      </p:sp>
      <p:sp>
        <p:nvSpPr>
          <p:cNvPr id="31" name="Shape 31"/>
          <p:cNvSpPr/>
          <p:nvPr/>
        </p:nvSpPr>
        <p:spPr>
          <a:xfrm>
            <a:off x="5522976" y="3986784"/>
            <a:ext cx="114300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000" dirty="0">
                <a:solidFill>
                  <a:srgbClr val="64748B"/>
                </a:solidFill>
                <a:latin typeface="Aptos"/>
                <a:cs typeface="Aptos"/>
              </a:rPr>
              <a:t>buyer endpoints</a:t>
            </a:r>
          </a:p>
        </p:txBody>
      </p:sp>
      <p:sp>
        <p:nvSpPr>
          <p:cNvPr id="32" name="Shape 32"/>
          <p:cNvSpPr/>
          <p:nvPr/>
        </p:nvSpPr>
        <p:spPr>
          <a:xfrm>
            <a:off x="7040880" y="3456432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33" name="Shape 33"/>
          <p:cNvSpPr/>
          <p:nvPr/>
        </p:nvSpPr>
        <p:spPr>
          <a:xfrm>
            <a:off x="7150608" y="3602736"/>
            <a:ext cx="91440" cy="658368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34" name="Shape 34"/>
          <p:cNvSpPr/>
          <p:nvPr/>
        </p:nvSpPr>
        <p:spPr>
          <a:xfrm>
            <a:off x="7333488" y="3621024"/>
            <a:ext cx="114300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300" dirty="0" b="1">
                <a:solidFill>
                  <a:srgbClr val="2563EB"/>
                </a:solidFill>
                <a:latin typeface="Aptos"/>
                <a:cs typeface="Aptos"/>
              </a:rPr>
              <a:t>16</a:t>
            </a:r>
          </a:p>
        </p:txBody>
      </p:sp>
      <p:sp>
        <p:nvSpPr>
          <p:cNvPr id="35" name="Shape 35"/>
          <p:cNvSpPr/>
          <p:nvPr/>
        </p:nvSpPr>
        <p:spPr>
          <a:xfrm>
            <a:off x="7351776" y="3986784"/>
            <a:ext cx="114300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000" dirty="0">
                <a:solidFill>
                  <a:srgbClr val="64748B"/>
                </a:solidFill>
                <a:latin typeface="Aptos"/>
                <a:cs typeface="Aptos"/>
              </a:rPr>
              <a:t>seller endpoints</a:t>
            </a:r>
          </a:p>
        </p:txBody>
      </p:sp>
      <p:sp>
        <p:nvSpPr>
          <p:cNvPr id="36" name="Shape 36"/>
          <p:cNvSpPr/>
          <p:nvPr/>
        </p:nvSpPr>
        <p:spPr>
          <a:xfrm>
            <a:off x="8869680" y="3456432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37" name="Shape 37"/>
          <p:cNvSpPr/>
          <p:nvPr/>
        </p:nvSpPr>
        <p:spPr>
          <a:xfrm>
            <a:off x="8979408" y="3602736"/>
            <a:ext cx="91440" cy="658368"/>
          </a:xfrm>
          <a:prstGeom prst="rect">
            <a:avLst/>
          </a:prstGeom>
          <a:solidFill>
            <a:srgbClr val="16A34A"/>
          </a:solidFill>
          <a:ln w="12700">
            <a:noFill/>
          </a:ln>
        </p:spPr>
      </p:sp>
      <p:sp>
        <p:nvSpPr>
          <p:cNvPr id="38" name="Shape 38"/>
          <p:cNvSpPr/>
          <p:nvPr/>
        </p:nvSpPr>
        <p:spPr>
          <a:xfrm>
            <a:off x="9162288" y="3621024"/>
            <a:ext cx="114300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300" dirty="0" b="1">
                <a:solidFill>
                  <a:srgbClr val="16A34A"/>
                </a:solidFill>
                <a:latin typeface="Aptos"/>
                <a:cs typeface="Aptos"/>
              </a:rPr>
              <a:t>13</a:t>
            </a:r>
          </a:p>
        </p:txBody>
      </p:sp>
      <p:sp>
        <p:nvSpPr>
          <p:cNvPr id="39" name="Shape 39"/>
          <p:cNvSpPr/>
          <p:nvPr/>
        </p:nvSpPr>
        <p:spPr>
          <a:xfrm>
            <a:off x="9180576" y="3986784"/>
            <a:ext cx="114300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000" dirty="0">
                <a:solidFill>
                  <a:srgbClr val="64748B"/>
                </a:solidFill>
                <a:latin typeface="Aptos"/>
                <a:cs typeface="Aptos"/>
              </a:rPr>
              <a:t>public endpoints</a:t>
            </a:r>
          </a:p>
        </p:txBody>
      </p:sp>
      <p:sp>
        <p:nvSpPr>
          <p:cNvPr id="40" name="Shape 40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41" name="Shape 41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Database Overview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Storage selected according to workload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143000"/>
            <a:ext cx="3383280" cy="3429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32104" y="1307592"/>
            <a:ext cx="109728" cy="309981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8" name="Shape 8"/>
          <p:cNvSpPr/>
          <p:nvPr/>
        </p:nvSpPr>
        <p:spPr>
          <a:xfrm>
            <a:off x="1069848" y="130759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MySQL: Transactional Data</a:t>
            </a:r>
          </a:p>
        </p:txBody>
      </p:sp>
      <p:sp>
        <p:nvSpPr>
          <p:cNvPr id="9" name="Shape 9"/>
          <p:cNvSpPr/>
          <p:nvPr/>
        </p:nvSpPr>
        <p:spPr>
          <a:xfrm>
            <a:off x="1069848" y="1645920"/>
            <a:ext cx="2816352" cy="27889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Auth accounts and credentials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User profiles and addresses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Orders and order items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Payments and refunds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CMS coupons/campaigns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Superadmin RBAC and audit logs</a:t>
            </a:r>
          </a:p>
        </p:txBody>
      </p:sp>
      <p:sp>
        <p:nvSpPr>
          <p:cNvPr id="10" name="Shape 10"/>
          <p:cNvSpPr/>
          <p:nvPr/>
        </p:nvSpPr>
        <p:spPr>
          <a:xfrm>
            <a:off x="4389120" y="1143000"/>
            <a:ext cx="3383280" cy="3429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535424" y="1307592"/>
            <a:ext cx="109728" cy="30998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12" name="Shape 12"/>
          <p:cNvSpPr/>
          <p:nvPr/>
        </p:nvSpPr>
        <p:spPr>
          <a:xfrm>
            <a:off x="4773168" y="130759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MongoDB: Documents and Events</a:t>
            </a:r>
          </a:p>
        </p:txBody>
      </p:sp>
      <p:sp>
        <p:nvSpPr>
          <p:cNvPr id="13" name="Shape 13"/>
          <p:cNvSpPr/>
          <p:nvPr/>
        </p:nvSpPr>
        <p:spPr>
          <a:xfrm>
            <a:off x="4773168" y="1645920"/>
            <a:ext cx="2816352" cy="27889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Products and variants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Carts and wishlists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Session events and journeys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Recommendations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Notification templates and deliveries</a:t>
            </a:r>
          </a:p>
        </p:txBody>
      </p:sp>
      <p:sp>
        <p:nvSpPr>
          <p:cNvPr id="14" name="Shape 14"/>
          <p:cNvSpPr/>
          <p:nvPr/>
        </p:nvSpPr>
        <p:spPr>
          <a:xfrm>
            <a:off x="8092440" y="1143000"/>
            <a:ext cx="3383280" cy="157276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238744" y="1307592"/>
            <a:ext cx="109728" cy="1243584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</p:sp>
      <p:sp>
        <p:nvSpPr>
          <p:cNvPr id="16" name="Shape 16"/>
          <p:cNvSpPr/>
          <p:nvPr/>
        </p:nvSpPr>
        <p:spPr>
          <a:xfrm>
            <a:off x="8476488" y="130759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Redis: Fast Short-Lived State</a:t>
            </a:r>
          </a:p>
        </p:txBody>
      </p:sp>
      <p:sp>
        <p:nvSpPr>
          <p:cNvPr id="17" name="Shape 17"/>
          <p:cNvSpPr/>
          <p:nvPr/>
        </p:nvSpPr>
        <p:spPr>
          <a:xfrm>
            <a:off x="8476488" y="1645920"/>
            <a:ext cx="2816352" cy="93268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Rate limits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Sessions and OTP counters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Cart cache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Active sessions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Distributed locks where needed</a:t>
            </a:r>
          </a:p>
        </p:txBody>
      </p:sp>
      <p:sp>
        <p:nvSpPr>
          <p:cNvPr id="18" name="Shape 18"/>
          <p:cNvSpPr/>
          <p:nvPr/>
        </p:nvSpPr>
        <p:spPr>
          <a:xfrm>
            <a:off x="8092440" y="2971800"/>
            <a:ext cx="3383280" cy="16002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8238744" y="3136392"/>
            <a:ext cx="109728" cy="1271016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20" name="Shape 20"/>
          <p:cNvSpPr/>
          <p:nvPr/>
        </p:nvSpPr>
        <p:spPr>
          <a:xfrm>
            <a:off x="8476488" y="313639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Typesense and Queues</a:t>
            </a:r>
          </a:p>
        </p:txBody>
      </p:sp>
      <p:sp>
        <p:nvSpPr>
          <p:cNvPr id="21" name="Shape 21"/>
          <p:cNvSpPr/>
          <p:nvPr/>
        </p:nvSpPr>
        <p:spPr>
          <a:xfrm>
            <a:off x="8476488" y="3474720"/>
            <a:ext cx="2816352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Typesense for product search, facets, autocomplete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RabbitMQ/Kafka for events, indexing, notifications, analytics</a:t>
            </a:r>
          </a:p>
        </p:txBody>
      </p:sp>
      <p:sp>
        <p:nvSpPr>
          <p:cNvPr id="22" name="Shape 22"/>
          <p:cNvSpPr/>
          <p:nvPr/>
        </p:nvSpPr>
        <p:spPr>
          <a:xfrm>
            <a:off x="914400" y="5102352"/>
            <a:ext cx="1033272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1400" dirty="0" b="1">
                <a:solidFill>
                  <a:srgbClr val="132033"/>
                </a:solidFill>
                <a:latin typeface="Aptos"/>
                <a:cs typeface="Aptos"/>
              </a:rPr>
              <a:t>Database rule: services do not directly read or write another service database. They call APIs or consume events.</a:t>
            </a:r>
          </a:p>
        </p:txBody>
      </p:sp>
      <p:sp>
        <p:nvSpPr>
          <p:cNvPr id="23" name="Shape 23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24" name="Shape 24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API and Backend Flow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Gateway-first request flow and checkout coordination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417320"/>
            <a:ext cx="1463040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React App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2148840" y="1673352"/>
            <a:ext cx="68580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8" name="Shape 8"/>
          <p:cNvSpPr/>
          <p:nvPr/>
        </p:nvSpPr>
        <p:spPr>
          <a:xfrm>
            <a:off x="2834640" y="1417320"/>
            <a:ext cx="16002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55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API Gateway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4434840" y="1673352"/>
            <a:ext cx="68580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10" name="Shape 10"/>
          <p:cNvSpPr/>
          <p:nvPr/>
        </p:nvSpPr>
        <p:spPr>
          <a:xfrm>
            <a:off x="5120640" y="1417320"/>
            <a:ext cx="1417320" cy="5120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Auth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6537960" y="1673352"/>
            <a:ext cx="68580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12" name="Shape 12"/>
          <p:cNvSpPr/>
          <p:nvPr/>
        </p:nvSpPr>
        <p:spPr>
          <a:xfrm>
            <a:off x="7223760" y="1417320"/>
            <a:ext cx="1417320" cy="512064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Order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8641080" y="1673352"/>
            <a:ext cx="68580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14" name="Shape 14"/>
          <p:cNvSpPr/>
          <p:nvPr/>
        </p:nvSpPr>
        <p:spPr>
          <a:xfrm>
            <a:off x="9326880" y="1417320"/>
            <a:ext cx="1691640" cy="51206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Payment</a:t>
            </a:r>
          </a:p>
        </p:txBody>
      </p:sp>
      <p:sp>
        <p:nvSpPr>
          <p:cNvPr id="15" name="Shape 15"/>
          <p:cNvSpPr/>
          <p:nvPr/>
        </p:nvSpPr>
        <p:spPr>
          <a:xfrm>
            <a:off x="685800" y="2487168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32104" y="2651760"/>
            <a:ext cx="109728" cy="1728216"/>
          </a:xfrm>
          <a:prstGeom prst="rect">
            <a:avLst/>
          </a:prstGeom>
          <a:solidFill>
            <a:srgbClr val="12355B"/>
          </a:solidFill>
          <a:ln w="12700">
            <a:noFill/>
          </a:ln>
        </p:spPr>
      </p:sp>
      <p:sp>
        <p:nvSpPr>
          <p:cNvPr id="17" name="Shape 17"/>
          <p:cNvSpPr/>
          <p:nvPr/>
        </p:nvSpPr>
        <p:spPr>
          <a:xfrm>
            <a:off x="1069848" y="2651760"/>
            <a:ext cx="267919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Gateway Responsibilities</a:t>
            </a:r>
          </a:p>
        </p:txBody>
      </p:sp>
      <p:sp>
        <p:nvSpPr>
          <p:cNvPr id="18" name="Shape 18"/>
          <p:cNvSpPr/>
          <p:nvPr/>
        </p:nvSpPr>
        <p:spPr>
          <a:xfrm>
            <a:off x="1069848" y="2990088"/>
            <a:ext cx="2679192" cy="14173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Route catalog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JWT verification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Role checks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Request validation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Rate limiting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CORS, logs, metrics, traces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Error mapping</a:t>
            </a:r>
          </a:p>
        </p:txBody>
      </p:sp>
      <p:sp>
        <p:nvSpPr>
          <p:cNvPr id="19" name="Shape 19"/>
          <p:cNvSpPr/>
          <p:nvPr/>
        </p:nvSpPr>
        <p:spPr>
          <a:xfrm>
            <a:off x="4279392" y="2487168"/>
            <a:ext cx="3246120" cy="20574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4425696" y="2651760"/>
            <a:ext cx="109728" cy="1728216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21" name="Shape 21"/>
          <p:cNvSpPr/>
          <p:nvPr/>
        </p:nvSpPr>
        <p:spPr>
          <a:xfrm>
            <a:off x="4663440" y="2651760"/>
            <a:ext cx="267919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Checkout Flow</a:t>
            </a:r>
          </a:p>
        </p:txBody>
      </p:sp>
      <p:sp>
        <p:nvSpPr>
          <p:cNvPr id="22" name="Shape 22"/>
          <p:cNvSpPr/>
          <p:nvPr/>
        </p:nvSpPr>
        <p:spPr>
          <a:xfrm>
            <a:off x="4663440" y="2990088"/>
            <a:ext cx="2679192" cy="14173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Get cart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Validate user and address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Reserve inventory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Create pending order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Create payment intent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Publish order/payment events</a:t>
            </a:r>
          </a:p>
        </p:txBody>
      </p:sp>
      <p:sp>
        <p:nvSpPr>
          <p:cNvPr id="23" name="Shape 23"/>
          <p:cNvSpPr/>
          <p:nvPr/>
        </p:nvSpPr>
        <p:spPr>
          <a:xfrm>
            <a:off x="7863840" y="2487168"/>
            <a:ext cx="3246120" cy="2057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8010144" y="2651760"/>
            <a:ext cx="109728" cy="1728216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</p:sp>
      <p:sp>
        <p:nvSpPr>
          <p:cNvPr id="25" name="Shape 25"/>
          <p:cNvSpPr/>
          <p:nvPr/>
        </p:nvSpPr>
        <p:spPr>
          <a:xfrm>
            <a:off x="8247888" y="2651760"/>
            <a:ext cx="267919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Payment Truth Source</a:t>
            </a:r>
          </a:p>
        </p:txBody>
      </p:sp>
      <p:sp>
        <p:nvSpPr>
          <p:cNvPr id="26" name="Shape 26"/>
          <p:cNvSpPr/>
          <p:nvPr/>
        </p:nvSpPr>
        <p:spPr>
          <a:xfrm>
            <a:off x="8247888" y="2990088"/>
            <a:ext cx="2679192" cy="14173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Frontend callback is not final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Provider webhook updates payment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Order status changes after backend confirmation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Refunds are admin-controlled</a:t>
            </a:r>
          </a:p>
        </p:txBody>
      </p:sp>
      <p:sp>
        <p:nvSpPr>
          <p:cNvPr id="27" name="Shape 27"/>
          <p:cNvSpPr/>
          <p:nvPr/>
        </p:nvSpPr>
        <p:spPr>
          <a:xfrm>
            <a:off x="1005840" y="5230368"/>
            <a:ext cx="100584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1100" dirty="0">
                <a:solidFill>
                  <a:srgbClr val="64748B"/>
                </a:solidFill>
                <a:latin typeface="Aptos"/>
                <a:cs typeface="Aptos"/>
              </a:rPr>
              <a:t>API catalog evidence: 99 REST endpoints mapped across public, buyer, seller, admin, superadmin, and webhook auth levels.</a:t>
            </a:r>
          </a:p>
        </p:txBody>
      </p:sp>
      <p:sp>
        <p:nvSpPr>
          <p:cNvPr id="28" name="Shape 28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29" name="Shape 29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Frontend Overview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Implemented route surfaces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078992"/>
            <a:ext cx="2697480" cy="18745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32104" y="1243584"/>
            <a:ext cx="109728" cy="154533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8" name="Shape 8"/>
          <p:cNvSpPr/>
          <p:nvPr/>
        </p:nvSpPr>
        <p:spPr>
          <a:xfrm>
            <a:off x="1069848" y="1243584"/>
            <a:ext cx="21305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User App :3000</a:t>
            </a:r>
          </a:p>
        </p:txBody>
      </p:sp>
      <p:sp>
        <p:nvSpPr>
          <p:cNvPr id="9" name="Shape 9"/>
          <p:cNvSpPr/>
          <p:nvPr/>
        </p:nvSpPr>
        <p:spPr>
          <a:xfrm>
            <a:off x="1069848" y="1581912"/>
            <a:ext cx="2130552" cy="123444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Home, categories, deals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Search and product detail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Login, signup, OTP, reset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Wishlist, cart, checkout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Profile, addresses, orders, notifications</a:t>
            </a:r>
          </a:p>
        </p:txBody>
      </p:sp>
      <p:sp>
        <p:nvSpPr>
          <p:cNvPr id="10" name="Shape 10"/>
          <p:cNvSpPr/>
          <p:nvPr/>
        </p:nvSpPr>
        <p:spPr>
          <a:xfrm>
            <a:off x="3611880" y="1078992"/>
            <a:ext cx="2697480" cy="1874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3758184" y="1243584"/>
            <a:ext cx="109728" cy="154533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12" name="Shape 12"/>
          <p:cNvSpPr/>
          <p:nvPr/>
        </p:nvSpPr>
        <p:spPr>
          <a:xfrm>
            <a:off x="3995928" y="1243584"/>
            <a:ext cx="21305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Seller Dashboard :3001</a:t>
            </a:r>
          </a:p>
        </p:txBody>
      </p:sp>
      <p:sp>
        <p:nvSpPr>
          <p:cNvPr id="13" name="Shape 13"/>
          <p:cNvSpPr/>
          <p:nvPr/>
        </p:nvSpPr>
        <p:spPr>
          <a:xfrm>
            <a:off x="3995928" y="1581912"/>
            <a:ext cx="2130552" cy="123444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Products and editor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Orders and fulfillment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Offers, coupons, campaigns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Revenue analytics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Team and audit activity</a:t>
            </a:r>
          </a:p>
        </p:txBody>
      </p:sp>
      <p:sp>
        <p:nvSpPr>
          <p:cNvPr id="14" name="Shape 14"/>
          <p:cNvSpPr/>
          <p:nvPr/>
        </p:nvSpPr>
        <p:spPr>
          <a:xfrm>
            <a:off x="6537960" y="1078992"/>
            <a:ext cx="2697480" cy="18745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684264" y="1243584"/>
            <a:ext cx="109728" cy="1545336"/>
          </a:xfrm>
          <a:prstGeom prst="rect">
            <a:avLst/>
          </a:prstGeom>
          <a:solidFill>
            <a:srgbClr val="6D28D9"/>
          </a:solidFill>
          <a:ln w="12700">
            <a:noFill/>
          </a:ln>
        </p:spPr>
      </p:sp>
      <p:sp>
        <p:nvSpPr>
          <p:cNvPr id="16" name="Shape 16"/>
          <p:cNvSpPr/>
          <p:nvPr/>
        </p:nvSpPr>
        <p:spPr>
          <a:xfrm>
            <a:off x="6922008" y="1243584"/>
            <a:ext cx="21305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Analytics :3002</a:t>
            </a:r>
          </a:p>
        </p:txBody>
      </p:sp>
      <p:sp>
        <p:nvSpPr>
          <p:cNvPr id="17" name="Shape 17"/>
          <p:cNvSpPr/>
          <p:nvPr/>
        </p:nvSpPr>
        <p:spPr>
          <a:xfrm>
            <a:off x="6922008" y="1581912"/>
            <a:ext cx="2130552" cy="123444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Overview and live sessions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Journey explorer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Funnels and heatmaps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Cohorts and reports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Privacy controls</a:t>
            </a:r>
          </a:p>
        </p:txBody>
      </p:sp>
      <p:sp>
        <p:nvSpPr>
          <p:cNvPr id="18" name="Shape 18"/>
          <p:cNvSpPr/>
          <p:nvPr/>
        </p:nvSpPr>
        <p:spPr>
          <a:xfrm>
            <a:off x="9464040" y="1078992"/>
            <a:ext cx="2057400" cy="1874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9610344" y="1243584"/>
            <a:ext cx="109728" cy="1545336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20" name="Shape 20"/>
          <p:cNvSpPr/>
          <p:nvPr/>
        </p:nvSpPr>
        <p:spPr>
          <a:xfrm>
            <a:off x="9848088" y="1243584"/>
            <a:ext cx="14904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Superadmin :3003</a:t>
            </a:r>
          </a:p>
        </p:txBody>
      </p:sp>
      <p:sp>
        <p:nvSpPr>
          <p:cNvPr id="21" name="Shape 21"/>
          <p:cNvSpPr/>
          <p:nvPr/>
        </p:nvSpPr>
        <p:spPr>
          <a:xfrm>
            <a:off x="9848088" y="1581912"/>
            <a:ext cx="1490472" cy="123444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Users and sellers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Orders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Payments/refunds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Sessions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Settings, audit logs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Search placeholder</a:t>
            </a:r>
          </a:p>
        </p:txBody>
      </p:sp>
      <p:sp>
        <p:nvSpPr>
          <p:cNvPr id="22" name="Shape 22"/>
          <p:cNvSpPr/>
          <p:nvPr/>
        </p:nvSpPr>
        <p:spPr>
          <a:xfrm>
            <a:off x="822960" y="3429000"/>
            <a:ext cx="31546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3" name="Shape 23"/>
          <p:cNvSpPr/>
          <p:nvPr/>
        </p:nvSpPr>
        <p:spPr>
          <a:xfrm>
            <a:off x="1051560" y="3936492"/>
            <a:ext cx="269748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mid">
            <a:normAutofit fontScale="88000" lnSpcReduction="12000"/>
          </a:bodyPr>
          <a:lstStyle/>
          <a:p>
            <a:pPr algn="c"/>
            <a:r>
              <a:rPr lang="en-US" sz="1300" dirty="0">
                <a:solidFill>
                  <a:srgbClr val="64748B"/>
                </a:solidFill>
                <a:latin typeface="Aptos"/>
                <a:cs typeface="Aptos"/>
              </a:rPr>
              <a:t>Screenshot to be added: User App Home / Product Listing</a:t>
            </a:r>
          </a:p>
        </p:txBody>
      </p:sp>
      <p:sp>
        <p:nvSpPr>
          <p:cNvPr id="24" name="Shape 24"/>
          <p:cNvSpPr/>
          <p:nvPr/>
        </p:nvSpPr>
        <p:spPr>
          <a:xfrm>
            <a:off x="4526280" y="3429000"/>
            <a:ext cx="31546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5" name="Shape 25"/>
          <p:cNvSpPr/>
          <p:nvPr/>
        </p:nvSpPr>
        <p:spPr>
          <a:xfrm>
            <a:off x="4754880" y="3936492"/>
            <a:ext cx="269748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mid">
            <a:normAutofit fontScale="88000" lnSpcReduction="12000"/>
          </a:bodyPr>
          <a:lstStyle/>
          <a:p>
            <a:pPr algn="c"/>
            <a:r>
              <a:rPr lang="en-US" sz="1300" dirty="0">
                <a:solidFill>
                  <a:srgbClr val="64748B"/>
                </a:solidFill>
                <a:latin typeface="Aptos"/>
                <a:cs typeface="Aptos"/>
              </a:rPr>
              <a:t>Screenshot to be added: Seller Dashboard</a:t>
            </a:r>
          </a:p>
        </p:txBody>
      </p:sp>
      <p:sp>
        <p:nvSpPr>
          <p:cNvPr id="26" name="Shape 26"/>
          <p:cNvSpPr/>
          <p:nvPr/>
        </p:nvSpPr>
        <p:spPr>
          <a:xfrm>
            <a:off x="8229600" y="3429000"/>
            <a:ext cx="27432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7" name="Shape 27"/>
          <p:cNvSpPr/>
          <p:nvPr/>
        </p:nvSpPr>
        <p:spPr>
          <a:xfrm>
            <a:off x="8458200" y="3936492"/>
            <a:ext cx="228600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mid">
            <a:normAutofit fontScale="88000" lnSpcReduction="12000"/>
          </a:bodyPr>
          <a:lstStyle/>
          <a:p>
            <a:pPr algn="c"/>
            <a:r>
              <a:rPr lang="en-US" sz="1300" dirty="0">
                <a:solidFill>
                  <a:srgbClr val="64748B"/>
                </a:solidFill>
                <a:latin typeface="Aptos"/>
                <a:cs typeface="Aptos"/>
              </a:rPr>
              <a:t>Screenshot to be added: Admin / Analytics UI</a:t>
            </a:r>
          </a:p>
        </p:txBody>
      </p:sp>
      <p:sp>
        <p:nvSpPr>
          <p:cNvPr id="28" name="Shape 28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29" name="Shape 29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Step-by-Step User Guide: Access Frontend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Local run path from repository runbooks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822960" y="1234440"/>
            <a:ext cx="384048" cy="384048"/>
          </a:xfrm>
          <a:prstGeom prst="ellipse">
            <a:avLst/>
          </a:prstGeom>
          <a:solidFill>
            <a:srgbClr val="12355B"/>
          </a:solidFill>
          <a:ln w="12700">
            <a:noFill/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200" dirty="0" b="1">
                <a:solidFill>
                  <a:srgbClr val="FFFFFF"/>
                </a:solidFill>
                <a:latin typeface="Aptos"/>
                <a:cs typeface="Aptos"/>
              </a:rPr>
              <a:t>1</a:t>
            </a:r>
          </a:p>
        </p:txBody>
      </p:sp>
      <p:sp>
        <p:nvSpPr>
          <p:cNvPr id="7" name="Shape 7"/>
          <p:cNvSpPr/>
          <p:nvPr/>
        </p:nvSpPr>
        <p:spPr>
          <a:xfrm>
            <a:off x="1325880" y="1216152"/>
            <a:ext cx="45720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200" dirty="0" b="1">
                <a:solidFill>
                  <a:srgbClr val="132033"/>
                </a:solidFill>
                <a:latin typeface="Aptos"/>
                <a:cs typeface="Aptos"/>
              </a:rPr>
              <a:t>Start the local stack</a:t>
            </a:r>
          </a:p>
        </p:txBody>
      </p:sp>
      <p:sp>
        <p:nvSpPr>
          <p:cNvPr id="8" name="Shape 8"/>
          <p:cNvSpPr/>
          <p:nvPr/>
        </p:nvSpPr>
        <p:spPr>
          <a:xfrm>
            <a:off x="1325880" y="1463040"/>
            <a:ext cx="4572000" cy="30175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Run docker compose up -d --build from the repository root.</a:t>
            </a:r>
          </a:p>
        </p:txBody>
      </p:sp>
      <p:sp>
        <p:nvSpPr>
          <p:cNvPr id="9" name="Shape 9"/>
          <p:cNvSpPr/>
          <p:nvPr/>
        </p:nvSpPr>
        <p:spPr>
          <a:xfrm>
            <a:off x="822960" y="193852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noFill/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200" dirty="0" b="1">
                <a:solidFill>
                  <a:srgbClr val="FFFFFF"/>
                </a:solidFill>
                <a:latin typeface="Aptos"/>
                <a:cs typeface="Aptos"/>
              </a:rPr>
              <a:t>2</a:t>
            </a:r>
          </a:p>
        </p:txBody>
      </p:sp>
      <p:sp>
        <p:nvSpPr>
          <p:cNvPr id="10" name="Shape 10"/>
          <p:cNvSpPr/>
          <p:nvPr/>
        </p:nvSpPr>
        <p:spPr>
          <a:xfrm>
            <a:off x="1325880" y="1920240"/>
            <a:ext cx="45720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200" dirty="0" b="1">
                <a:solidFill>
                  <a:srgbClr val="132033"/>
                </a:solidFill>
                <a:latin typeface="Aptos"/>
                <a:cs typeface="Aptos"/>
              </a:rPr>
              <a:t>Verify gateway health</a:t>
            </a:r>
          </a:p>
        </p:txBody>
      </p:sp>
      <p:sp>
        <p:nvSpPr>
          <p:cNvPr id="11" name="Shape 11"/>
          <p:cNvSpPr/>
          <p:nvPr/>
        </p:nvSpPr>
        <p:spPr>
          <a:xfrm>
            <a:off x="1325880" y="2167128"/>
            <a:ext cx="4572000" cy="30175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Open /health/live and /health/ready on http://localhost:8080.</a:t>
            </a:r>
          </a:p>
        </p:txBody>
      </p:sp>
      <p:sp>
        <p:nvSpPr>
          <p:cNvPr id="12" name="Shape 12"/>
          <p:cNvSpPr/>
          <p:nvPr/>
        </p:nvSpPr>
        <p:spPr>
          <a:xfrm>
            <a:off x="822960" y="2642616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noFill/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200" dirty="0" b="1">
                <a:solidFill>
                  <a:srgbClr val="FFFFFF"/>
                </a:solidFill>
                <a:latin typeface="Aptos"/>
                <a:cs typeface="Aptos"/>
              </a:rPr>
              <a:t>3</a:t>
            </a:r>
          </a:p>
        </p:txBody>
      </p:sp>
      <p:sp>
        <p:nvSpPr>
          <p:cNvPr id="13" name="Shape 13"/>
          <p:cNvSpPr/>
          <p:nvPr/>
        </p:nvSpPr>
        <p:spPr>
          <a:xfrm>
            <a:off x="1325880" y="2624328"/>
            <a:ext cx="45720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200" dirty="0" b="1">
                <a:solidFill>
                  <a:srgbClr val="132033"/>
                </a:solidFill>
                <a:latin typeface="Aptos"/>
                <a:cs typeface="Aptos"/>
              </a:rPr>
              <a:t>Open the buyer frontend</a:t>
            </a:r>
          </a:p>
        </p:txBody>
      </p:sp>
      <p:sp>
        <p:nvSpPr>
          <p:cNvPr id="14" name="Shape 14"/>
          <p:cNvSpPr/>
          <p:nvPr/>
        </p:nvSpPr>
        <p:spPr>
          <a:xfrm>
            <a:off x="1325880" y="2871216"/>
            <a:ext cx="4572000" cy="30175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Use http://localhost:3000 for the user-facing app.</a:t>
            </a:r>
          </a:p>
        </p:txBody>
      </p:sp>
      <p:sp>
        <p:nvSpPr>
          <p:cNvPr id="15" name="Shape 15"/>
          <p:cNvSpPr/>
          <p:nvPr/>
        </p:nvSpPr>
        <p:spPr>
          <a:xfrm>
            <a:off x="822960" y="3346704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noFill/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200" dirty="0" b="1">
                <a:solidFill>
                  <a:srgbClr val="FFFFFF"/>
                </a:solidFill>
                <a:latin typeface="Aptos"/>
                <a:cs typeface="Aptos"/>
              </a:rPr>
              <a:t>4</a:t>
            </a:r>
          </a:p>
        </p:txBody>
      </p:sp>
      <p:sp>
        <p:nvSpPr>
          <p:cNvPr id="16" name="Shape 16"/>
          <p:cNvSpPr/>
          <p:nvPr/>
        </p:nvSpPr>
        <p:spPr>
          <a:xfrm>
            <a:off x="1325880" y="3328416"/>
            <a:ext cx="45720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200" dirty="0" b="1">
                <a:solidFill>
                  <a:srgbClr val="132033"/>
                </a:solidFill>
                <a:latin typeface="Aptos"/>
                <a:cs typeface="Aptos"/>
              </a:rPr>
              <a:t>Register or log in</a:t>
            </a:r>
          </a:p>
        </p:txBody>
      </p:sp>
      <p:sp>
        <p:nvSpPr>
          <p:cNvPr id="17" name="Shape 17"/>
          <p:cNvSpPr/>
          <p:nvPr/>
        </p:nvSpPr>
        <p:spPr>
          <a:xfrm>
            <a:off x="1325880" y="3575304"/>
            <a:ext cx="4572000" cy="30175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Signup, login, OTP, forgot password, and reset password pages exist in the user app.</a:t>
            </a:r>
          </a:p>
        </p:txBody>
      </p:sp>
      <p:sp>
        <p:nvSpPr>
          <p:cNvPr id="18" name="Shape 18"/>
          <p:cNvSpPr/>
          <p:nvPr/>
        </p:nvSpPr>
        <p:spPr>
          <a:xfrm>
            <a:off x="822960" y="405079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noFill/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200" dirty="0" b="1">
                <a:solidFill>
                  <a:srgbClr val="FFFFFF"/>
                </a:solidFill>
                <a:latin typeface="Aptos"/>
                <a:cs typeface="Aptos"/>
              </a:rPr>
              <a:t>5</a:t>
            </a:r>
          </a:p>
        </p:txBody>
      </p:sp>
      <p:sp>
        <p:nvSpPr>
          <p:cNvPr id="19" name="Shape 19"/>
          <p:cNvSpPr/>
          <p:nvPr/>
        </p:nvSpPr>
        <p:spPr>
          <a:xfrm>
            <a:off x="1325880" y="4032504"/>
            <a:ext cx="45720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200" dirty="0" b="1">
                <a:solidFill>
                  <a:srgbClr val="132033"/>
                </a:solidFill>
                <a:latin typeface="Aptos"/>
                <a:cs typeface="Aptos"/>
              </a:rPr>
              <a:t>Use public and protected pages</a:t>
            </a:r>
          </a:p>
        </p:txBody>
      </p:sp>
      <p:sp>
        <p:nvSpPr>
          <p:cNvPr id="20" name="Shape 20"/>
          <p:cNvSpPr/>
          <p:nvPr/>
        </p:nvSpPr>
        <p:spPr>
          <a:xfrm>
            <a:off x="1325880" y="4279392"/>
            <a:ext cx="4572000" cy="30175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Catalog/search pages are public; wishlist, cart, checkout, and account pages are protected.</a:t>
            </a:r>
          </a:p>
        </p:txBody>
      </p:sp>
      <p:sp>
        <p:nvSpPr>
          <p:cNvPr id="21" name="Shape 21"/>
          <p:cNvSpPr/>
          <p:nvPr/>
        </p:nvSpPr>
        <p:spPr>
          <a:xfrm>
            <a:off x="6446520" y="1298448"/>
            <a:ext cx="4709160" cy="14630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</p:sp>
      <p:sp>
        <p:nvSpPr>
          <p:cNvPr id="22" name="Shape 22"/>
          <p:cNvSpPr/>
          <p:nvPr/>
        </p:nvSpPr>
        <p:spPr>
          <a:xfrm>
            <a:off x="6592824" y="1463040"/>
            <a:ext cx="109728" cy="1133856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</p:sp>
      <p:sp>
        <p:nvSpPr>
          <p:cNvPr id="23" name="Shape 23"/>
          <p:cNvSpPr/>
          <p:nvPr/>
        </p:nvSpPr>
        <p:spPr>
          <a:xfrm>
            <a:off x="6830568" y="1463040"/>
            <a:ext cx="414223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Important Access Note</a:t>
            </a:r>
          </a:p>
        </p:txBody>
      </p:sp>
      <p:sp>
        <p:nvSpPr>
          <p:cNvPr id="24" name="Shape 24"/>
          <p:cNvSpPr/>
          <p:nvPr/>
        </p:nvSpPr>
        <p:spPr>
          <a:xfrm>
            <a:off x="6830568" y="1801368"/>
            <a:ext cx="4142232" cy="8229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Buyer seed credentials were not found in the local access guide.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Seller, analytics admin, and superadmin demo credentials exist and are documented there.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No fake buyer credentials are included in this presentation.</a:t>
            </a:r>
          </a:p>
        </p:txBody>
      </p:sp>
      <p:sp>
        <p:nvSpPr>
          <p:cNvPr id="25" name="Shape 25"/>
          <p:cNvSpPr/>
          <p:nvPr/>
        </p:nvSpPr>
        <p:spPr>
          <a:xfrm>
            <a:off x="6446520" y="3154680"/>
            <a:ext cx="470916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6" name="Shape 26"/>
          <p:cNvSpPr/>
          <p:nvPr/>
        </p:nvSpPr>
        <p:spPr>
          <a:xfrm>
            <a:off x="6675120" y="3799332"/>
            <a:ext cx="425196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mid">
            <a:normAutofit fontScale="88000" lnSpcReduction="12000"/>
          </a:bodyPr>
          <a:lstStyle/>
          <a:p>
            <a:pPr algn="c"/>
            <a:r>
              <a:rPr lang="en-US" sz="1300" dirty="0">
                <a:solidFill>
                  <a:srgbClr val="64748B"/>
                </a:solidFill>
                <a:latin typeface="Aptos"/>
                <a:cs typeface="Aptos"/>
              </a:rPr>
              <a:t>Screenshot to be added: User App Login or Signup Page</a:t>
            </a:r>
          </a:p>
        </p:txBody>
      </p:sp>
      <p:sp>
        <p:nvSpPr>
          <p:cNvPr id="27" name="Shape 27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28" name="Shape 28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Client/User Journey: Authentication and Discovery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Normal buyer flow, based on implemented routes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731520" y="1325880"/>
            <a:ext cx="1417320" cy="5120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Signup/Login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2148840" y="1581912"/>
            <a:ext cx="59436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8" name="Shape 8"/>
          <p:cNvSpPr/>
          <p:nvPr/>
        </p:nvSpPr>
        <p:spPr>
          <a:xfrm>
            <a:off x="2743200" y="1325880"/>
            <a:ext cx="1143000" cy="512064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6D28D9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OTP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3886200" y="1581912"/>
            <a:ext cx="59436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10" name="Shape 10"/>
          <p:cNvSpPr/>
          <p:nvPr/>
        </p:nvSpPr>
        <p:spPr>
          <a:xfrm>
            <a:off x="4480560" y="1325880"/>
            <a:ext cx="1417320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Home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5897880" y="1581912"/>
            <a:ext cx="59436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12" name="Shape 12"/>
          <p:cNvSpPr/>
          <p:nvPr/>
        </p:nvSpPr>
        <p:spPr>
          <a:xfrm>
            <a:off x="6492240" y="1325880"/>
            <a:ext cx="1508760" cy="512064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Search/Filter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8001000" y="1581912"/>
            <a:ext cx="59436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14" name="Shape 14"/>
          <p:cNvSpPr/>
          <p:nvPr/>
        </p:nvSpPr>
        <p:spPr>
          <a:xfrm>
            <a:off x="8595360" y="1325880"/>
            <a:ext cx="16002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55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Product Detail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10195560" y="1581912"/>
            <a:ext cx="54864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16" name="Shape 16"/>
          <p:cNvSpPr/>
          <p:nvPr/>
        </p:nvSpPr>
        <p:spPr>
          <a:xfrm>
            <a:off x="10744200" y="1325880"/>
            <a:ext cx="868680" cy="51206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Cart</a:t>
            </a:r>
          </a:p>
        </p:txBody>
      </p:sp>
      <p:sp>
        <p:nvSpPr>
          <p:cNvPr id="17" name="Shape 17"/>
          <p:cNvSpPr/>
          <p:nvPr/>
        </p:nvSpPr>
        <p:spPr>
          <a:xfrm>
            <a:off x="731520" y="2487168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77824" y="2651760"/>
            <a:ext cx="109728" cy="95097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19" name="Shape 19"/>
          <p:cNvSpPr/>
          <p:nvPr/>
        </p:nvSpPr>
        <p:spPr>
          <a:xfrm>
            <a:off x="1115568" y="2651760"/>
            <a:ext cx="450799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Discovery Features Present</a:t>
            </a:r>
          </a:p>
        </p:txBody>
      </p:sp>
      <p:sp>
        <p:nvSpPr>
          <p:cNvPr id="20" name="Shape 20"/>
          <p:cNvSpPr/>
          <p:nvPr/>
        </p:nvSpPr>
        <p:spPr>
          <a:xfrm>
            <a:off x="1115568" y="2990088"/>
            <a:ext cx="4507992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Home page, category listing, category route, deals page, search results, product detail page, sort and filter URL state, wishlist and cart actions.</a:t>
            </a:r>
          </a:p>
        </p:txBody>
      </p:sp>
      <p:sp>
        <p:nvSpPr>
          <p:cNvPr id="21" name="Shape 21"/>
          <p:cNvSpPr/>
          <p:nvPr/>
        </p:nvSpPr>
        <p:spPr>
          <a:xfrm>
            <a:off x="6172200" y="2487168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2" name="Shape 22"/>
          <p:cNvSpPr/>
          <p:nvPr/>
        </p:nvSpPr>
        <p:spPr>
          <a:xfrm>
            <a:off x="6318504" y="2651760"/>
            <a:ext cx="109728" cy="95097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23" name="Shape 23"/>
          <p:cNvSpPr/>
          <p:nvPr/>
        </p:nvSpPr>
        <p:spPr>
          <a:xfrm>
            <a:off x="6556248" y="2651760"/>
            <a:ext cx="450799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Authentication Features Present</a:t>
            </a:r>
          </a:p>
        </p:txBody>
      </p:sp>
      <p:sp>
        <p:nvSpPr>
          <p:cNvPr id="24" name="Shape 24"/>
          <p:cNvSpPr/>
          <p:nvPr/>
        </p:nvSpPr>
        <p:spPr>
          <a:xfrm>
            <a:off x="6556248" y="2990088"/>
            <a:ext cx="4507992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Login, signup, OTP page, forgot password, reset password, auth store, protected route wrapper, token/session handling utilities.</a:t>
            </a:r>
          </a:p>
        </p:txBody>
      </p:sp>
      <p:sp>
        <p:nvSpPr>
          <p:cNvPr id="25" name="Shape 25"/>
          <p:cNvSpPr/>
          <p:nvPr/>
        </p:nvSpPr>
        <p:spPr>
          <a:xfrm>
            <a:off x="1051560" y="4160520"/>
            <a:ext cx="45720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6" name="Shape 26"/>
          <p:cNvSpPr/>
          <p:nvPr/>
        </p:nvSpPr>
        <p:spPr>
          <a:xfrm>
            <a:off x="1280160" y="4507992"/>
            <a:ext cx="411480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mid">
            <a:normAutofit fontScale="88000" lnSpcReduction="12000"/>
          </a:bodyPr>
          <a:lstStyle/>
          <a:p>
            <a:pPr algn="c"/>
            <a:r>
              <a:rPr lang="en-US" sz="1300" dirty="0">
                <a:solidFill>
                  <a:srgbClr val="64748B"/>
                </a:solidFill>
                <a:latin typeface="Aptos"/>
                <a:cs typeface="Aptos"/>
              </a:rPr>
              <a:t>Screenshot to be added: Search / Category Filter</a:t>
            </a:r>
          </a:p>
        </p:txBody>
      </p:sp>
      <p:sp>
        <p:nvSpPr>
          <p:cNvPr id="27" name="Shape 27"/>
          <p:cNvSpPr/>
          <p:nvPr/>
        </p:nvSpPr>
        <p:spPr>
          <a:xfrm>
            <a:off x="6537960" y="4160520"/>
            <a:ext cx="45720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8" name="Shape 28"/>
          <p:cNvSpPr/>
          <p:nvPr/>
        </p:nvSpPr>
        <p:spPr>
          <a:xfrm>
            <a:off x="6766560" y="4507992"/>
            <a:ext cx="411480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mid">
            <a:normAutofit fontScale="88000" lnSpcReduction="12000"/>
          </a:bodyPr>
          <a:lstStyle/>
          <a:p>
            <a:pPr algn="c"/>
            <a:r>
              <a:rPr lang="en-US" sz="1300" dirty="0">
                <a:solidFill>
                  <a:srgbClr val="64748B"/>
                </a:solidFill>
                <a:latin typeface="Aptos"/>
                <a:cs typeface="Aptos"/>
              </a:rPr>
              <a:t>Screenshot to be added: Product Detail</a:t>
            </a:r>
          </a:p>
        </p:txBody>
      </p:sp>
      <p:sp>
        <p:nvSpPr>
          <p:cNvPr id="29" name="Shape 29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30" name="Shape 30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Client/User Journey: Cart, Checkout and Payment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Protected buyer workflow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777240" y="1261872"/>
            <a:ext cx="1234440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Cart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2011680" y="1517904"/>
            <a:ext cx="59436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8" name="Shape 8"/>
          <p:cNvSpPr/>
          <p:nvPr/>
        </p:nvSpPr>
        <p:spPr>
          <a:xfrm>
            <a:off x="2606040" y="1261872"/>
            <a:ext cx="1600200" cy="5120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Qty/Coupon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4206240" y="1517904"/>
            <a:ext cx="59436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10" name="Shape 10"/>
          <p:cNvSpPr/>
          <p:nvPr/>
        </p:nvSpPr>
        <p:spPr>
          <a:xfrm>
            <a:off x="4800600" y="1261872"/>
            <a:ext cx="1325880" cy="512064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6D28D9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Address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6126480" y="1517904"/>
            <a:ext cx="59436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12" name="Shape 12"/>
          <p:cNvSpPr/>
          <p:nvPr/>
        </p:nvSpPr>
        <p:spPr>
          <a:xfrm>
            <a:off x="6720840" y="1261872"/>
            <a:ext cx="1417320" cy="512064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Review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8138160" y="1517904"/>
            <a:ext cx="59436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14" name="Shape 14"/>
          <p:cNvSpPr/>
          <p:nvPr/>
        </p:nvSpPr>
        <p:spPr>
          <a:xfrm>
            <a:off x="8732520" y="1261872"/>
            <a:ext cx="1417320" cy="51206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Payment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10149840" y="1517904"/>
            <a:ext cx="59436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16" name="Shape 16"/>
          <p:cNvSpPr/>
          <p:nvPr/>
        </p:nvSpPr>
        <p:spPr>
          <a:xfrm>
            <a:off x="10744200" y="1261872"/>
            <a:ext cx="8686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55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Result</a:t>
            </a:r>
          </a:p>
        </p:txBody>
      </p:sp>
      <p:sp>
        <p:nvSpPr>
          <p:cNvPr id="17" name="Shape 17"/>
          <p:cNvSpPr/>
          <p:nvPr/>
        </p:nvSpPr>
        <p:spPr>
          <a:xfrm>
            <a:off x="777240" y="2359152"/>
            <a:ext cx="3246120" cy="1463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18" name="Shape 18"/>
          <p:cNvSpPr/>
          <p:nvPr/>
        </p:nvSpPr>
        <p:spPr>
          <a:xfrm>
            <a:off x="923544" y="2523744"/>
            <a:ext cx="109728" cy="113385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19" name="Shape 19"/>
          <p:cNvSpPr/>
          <p:nvPr/>
        </p:nvSpPr>
        <p:spPr>
          <a:xfrm>
            <a:off x="1161288" y="2523744"/>
            <a:ext cx="267919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Cart Service Flow</a:t>
            </a:r>
          </a:p>
        </p:txBody>
      </p:sp>
      <p:sp>
        <p:nvSpPr>
          <p:cNvPr id="20" name="Shape 20"/>
          <p:cNvSpPr/>
          <p:nvPr/>
        </p:nvSpPr>
        <p:spPr>
          <a:xfrm>
            <a:off x="1161288" y="2862072"/>
            <a:ext cx="2679192" cy="8229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Get cart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Add item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Update item quantity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Remove item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Merge guest cart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Preview coupon</a:t>
            </a:r>
          </a:p>
        </p:txBody>
      </p:sp>
      <p:sp>
        <p:nvSpPr>
          <p:cNvPr id="21" name="Shape 21"/>
          <p:cNvSpPr/>
          <p:nvPr/>
        </p:nvSpPr>
        <p:spPr>
          <a:xfrm>
            <a:off x="4434840" y="2359152"/>
            <a:ext cx="3246120" cy="14630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22" name="Shape 22"/>
          <p:cNvSpPr/>
          <p:nvPr/>
        </p:nvSpPr>
        <p:spPr>
          <a:xfrm>
            <a:off x="4581144" y="2523744"/>
            <a:ext cx="109728" cy="1133856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23" name="Shape 23"/>
          <p:cNvSpPr/>
          <p:nvPr/>
        </p:nvSpPr>
        <p:spPr>
          <a:xfrm>
            <a:off x="4818888" y="2523744"/>
            <a:ext cx="267919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Order Service Flow</a:t>
            </a:r>
          </a:p>
        </p:txBody>
      </p:sp>
      <p:sp>
        <p:nvSpPr>
          <p:cNvPr id="24" name="Shape 24"/>
          <p:cNvSpPr/>
          <p:nvPr/>
        </p:nvSpPr>
        <p:spPr>
          <a:xfrm>
            <a:off x="4818888" y="2862072"/>
            <a:ext cx="2679192" cy="8229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Create order from cart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Use idempotency key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Store order items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Track order status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List buyer orders</a:t>
            </a:r>
          </a:p>
        </p:txBody>
      </p:sp>
      <p:sp>
        <p:nvSpPr>
          <p:cNvPr id="25" name="Shape 25"/>
          <p:cNvSpPr/>
          <p:nvPr/>
        </p:nvSpPr>
        <p:spPr>
          <a:xfrm>
            <a:off x="8092440" y="2359152"/>
            <a:ext cx="3246120" cy="14630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</p:sp>
      <p:sp>
        <p:nvSpPr>
          <p:cNvPr id="26" name="Shape 26"/>
          <p:cNvSpPr/>
          <p:nvPr/>
        </p:nvSpPr>
        <p:spPr>
          <a:xfrm>
            <a:off x="8238744" y="2523744"/>
            <a:ext cx="109728" cy="1133856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</p:sp>
      <p:sp>
        <p:nvSpPr>
          <p:cNvPr id="27" name="Shape 27"/>
          <p:cNvSpPr/>
          <p:nvPr/>
        </p:nvSpPr>
        <p:spPr>
          <a:xfrm>
            <a:off x="8476488" y="2523744"/>
            <a:ext cx="267919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Payment Flow</a:t>
            </a:r>
          </a:p>
        </p:txBody>
      </p:sp>
      <p:sp>
        <p:nvSpPr>
          <p:cNvPr id="28" name="Shape 28"/>
          <p:cNvSpPr/>
          <p:nvPr/>
        </p:nvSpPr>
        <p:spPr>
          <a:xfrm>
            <a:off x="8476488" y="2862072"/>
            <a:ext cx="2679192" cy="8229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Create payment intent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Retry payment endpoint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Provider webhook endpoint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Refund is admin-side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Local providers disabled by default</a:t>
            </a:r>
          </a:p>
        </p:txBody>
      </p:sp>
      <p:sp>
        <p:nvSpPr>
          <p:cNvPr id="29" name="Shape 29"/>
          <p:cNvSpPr/>
          <p:nvPr/>
        </p:nvSpPr>
        <p:spPr>
          <a:xfrm>
            <a:off x="1051560" y="4370832"/>
            <a:ext cx="4572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30" name="Shape 30"/>
          <p:cNvSpPr/>
          <p:nvPr/>
        </p:nvSpPr>
        <p:spPr>
          <a:xfrm>
            <a:off x="1280160" y="4695444"/>
            <a:ext cx="411480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mid">
            <a:normAutofit fontScale="88000" lnSpcReduction="12000"/>
          </a:bodyPr>
          <a:lstStyle/>
          <a:p>
            <a:pPr algn="c"/>
            <a:r>
              <a:rPr lang="en-US" sz="1300" dirty="0">
                <a:solidFill>
                  <a:srgbClr val="64748B"/>
                </a:solidFill>
                <a:latin typeface="Aptos"/>
                <a:cs typeface="Aptos"/>
              </a:rPr>
              <a:t>Screenshot to be added: Cart Page</a:t>
            </a:r>
          </a:p>
        </p:txBody>
      </p:sp>
      <p:sp>
        <p:nvSpPr>
          <p:cNvPr id="31" name="Shape 31"/>
          <p:cNvSpPr/>
          <p:nvPr/>
        </p:nvSpPr>
        <p:spPr>
          <a:xfrm>
            <a:off x="6537960" y="4370832"/>
            <a:ext cx="45720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32" name="Shape 32"/>
          <p:cNvSpPr/>
          <p:nvPr/>
        </p:nvSpPr>
        <p:spPr>
          <a:xfrm>
            <a:off x="6766560" y="4695444"/>
            <a:ext cx="411480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mid">
            <a:normAutofit fontScale="88000" lnSpcReduction="12000"/>
          </a:bodyPr>
          <a:lstStyle/>
          <a:p>
            <a:pPr algn="c"/>
            <a:r>
              <a:rPr lang="en-US" sz="1300" dirty="0">
                <a:solidFill>
                  <a:srgbClr val="64748B"/>
                </a:solidFill>
                <a:latin typeface="Aptos"/>
                <a:cs typeface="Aptos"/>
              </a:rPr>
              <a:t>Screenshot to be added: Checkout Page</a:t>
            </a:r>
          </a:p>
        </p:txBody>
      </p:sp>
      <p:sp>
        <p:nvSpPr>
          <p:cNvPr id="33" name="Shape 33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34" name="Shape 34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Client/User Journey: Profile and Notifications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Post-purchase and account management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731520" y="114300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77824" y="1307592"/>
            <a:ext cx="109728" cy="1042416"/>
          </a:xfrm>
          <a:prstGeom prst="rect">
            <a:avLst/>
          </a:prstGeom>
          <a:solidFill>
            <a:srgbClr val="12355B"/>
          </a:solidFill>
          <a:ln w="12700">
            <a:noFill/>
          </a:ln>
        </p:spPr>
      </p:sp>
      <p:sp>
        <p:nvSpPr>
          <p:cNvPr id="8" name="Shape 8"/>
          <p:cNvSpPr/>
          <p:nvPr/>
        </p:nvSpPr>
        <p:spPr>
          <a:xfrm>
            <a:off x="1115568" y="130759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Account Overview</a:t>
            </a:r>
          </a:p>
        </p:txBody>
      </p:sp>
      <p:sp>
        <p:nvSpPr>
          <p:cNvPr id="9" name="Shape 9"/>
          <p:cNvSpPr/>
          <p:nvPr/>
        </p:nvSpPr>
        <p:spPr>
          <a:xfrm>
            <a:off x="1115568" y="1645920"/>
            <a:ext cx="2816352" cy="7315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Protected account layout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Profile overview route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Profile detail page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Session-aware navigation</a:t>
            </a:r>
          </a:p>
        </p:txBody>
      </p:sp>
      <p:sp>
        <p:nvSpPr>
          <p:cNvPr id="10" name="Shape 10"/>
          <p:cNvSpPr/>
          <p:nvPr/>
        </p:nvSpPr>
        <p:spPr>
          <a:xfrm>
            <a:off x="4389120" y="1143000"/>
            <a:ext cx="3383280" cy="1371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535424" y="1307592"/>
            <a:ext cx="109728" cy="10424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12" name="Shape 12"/>
          <p:cNvSpPr/>
          <p:nvPr/>
        </p:nvSpPr>
        <p:spPr>
          <a:xfrm>
            <a:off x="4773168" y="130759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Address Book</a:t>
            </a:r>
          </a:p>
        </p:txBody>
      </p:sp>
      <p:sp>
        <p:nvSpPr>
          <p:cNvPr id="13" name="Shape 13"/>
          <p:cNvSpPr/>
          <p:nvPr/>
        </p:nvSpPr>
        <p:spPr>
          <a:xfrm>
            <a:off x="4773168" y="1645920"/>
            <a:ext cx="2816352" cy="7315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List addresses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Create address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Update address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Delete address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Use address during checkout</a:t>
            </a:r>
          </a:p>
        </p:txBody>
      </p:sp>
      <p:sp>
        <p:nvSpPr>
          <p:cNvPr id="14" name="Shape 14"/>
          <p:cNvSpPr/>
          <p:nvPr/>
        </p:nvSpPr>
        <p:spPr>
          <a:xfrm>
            <a:off x="8046720" y="1143000"/>
            <a:ext cx="3383280" cy="1371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193024" y="1307592"/>
            <a:ext cx="109728" cy="1042416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16" name="Shape 16"/>
          <p:cNvSpPr/>
          <p:nvPr/>
        </p:nvSpPr>
        <p:spPr>
          <a:xfrm>
            <a:off x="8430768" y="130759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Orders</a:t>
            </a:r>
          </a:p>
        </p:txBody>
      </p:sp>
      <p:sp>
        <p:nvSpPr>
          <p:cNvPr id="17" name="Shape 17"/>
          <p:cNvSpPr/>
          <p:nvPr/>
        </p:nvSpPr>
        <p:spPr>
          <a:xfrm>
            <a:off x="8430768" y="1645920"/>
            <a:ext cx="2816352" cy="7315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Order list page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Order detail page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Cancel order API exists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Payment result pages</a:t>
            </a:r>
          </a:p>
        </p:txBody>
      </p:sp>
      <p:sp>
        <p:nvSpPr>
          <p:cNvPr id="18" name="Shape 18"/>
          <p:cNvSpPr/>
          <p:nvPr/>
        </p:nvSpPr>
        <p:spPr>
          <a:xfrm>
            <a:off x="1234440" y="3063240"/>
            <a:ext cx="4297680" cy="13716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1380744" y="3227832"/>
            <a:ext cx="109728" cy="1042416"/>
          </a:xfrm>
          <a:prstGeom prst="rect">
            <a:avLst/>
          </a:prstGeom>
          <a:solidFill>
            <a:srgbClr val="6D28D9"/>
          </a:solidFill>
          <a:ln w="12700">
            <a:noFill/>
          </a:ln>
        </p:spPr>
      </p:sp>
      <p:sp>
        <p:nvSpPr>
          <p:cNvPr id="20" name="Shape 20"/>
          <p:cNvSpPr/>
          <p:nvPr/>
        </p:nvSpPr>
        <p:spPr>
          <a:xfrm>
            <a:off x="1618488" y="3227832"/>
            <a:ext cx="37307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Notification Preferences</a:t>
            </a:r>
          </a:p>
        </p:txBody>
      </p:sp>
      <p:sp>
        <p:nvSpPr>
          <p:cNvPr id="21" name="Shape 21"/>
          <p:cNvSpPr/>
          <p:nvPr/>
        </p:nvSpPr>
        <p:spPr>
          <a:xfrm>
            <a:off x="1618488" y="3566160"/>
            <a:ext cx="3730752" cy="7315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User app route /account/notifications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Notification service schemas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Email/SMS/push/marketing preference model</a:t>
            </a:r>
          </a:p>
        </p:txBody>
      </p:sp>
      <p:sp>
        <p:nvSpPr>
          <p:cNvPr id="22" name="Shape 22"/>
          <p:cNvSpPr/>
          <p:nvPr/>
        </p:nvSpPr>
        <p:spPr>
          <a:xfrm>
            <a:off x="6537960" y="2971800"/>
            <a:ext cx="42976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3" name="Shape 23"/>
          <p:cNvSpPr/>
          <p:nvPr/>
        </p:nvSpPr>
        <p:spPr>
          <a:xfrm>
            <a:off x="6766560" y="3547872"/>
            <a:ext cx="384048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mid">
            <a:normAutofit fontScale="88000" lnSpcReduction="12000"/>
          </a:bodyPr>
          <a:lstStyle/>
          <a:p>
            <a:pPr algn="c"/>
            <a:r>
              <a:rPr lang="en-US" sz="1300" dirty="0">
                <a:solidFill>
                  <a:srgbClr val="64748B"/>
                </a:solidFill>
                <a:latin typeface="Aptos"/>
                <a:cs typeface="Aptos"/>
              </a:rPr>
              <a:t>Screenshot to be added: Profile / Orders / Notification Preferences</a:t>
            </a:r>
          </a:p>
        </p:txBody>
      </p:sp>
      <p:sp>
        <p:nvSpPr>
          <p:cNvPr id="24" name="Shape 24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25" name="Shape 25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Seller Dashboard Journey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Seller/admin flow exists in code and runbook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143000"/>
            <a:ext cx="2926080" cy="1325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32104" y="1307592"/>
            <a:ext cx="109728" cy="99669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8" name="Shape 8"/>
          <p:cNvSpPr/>
          <p:nvPr/>
        </p:nvSpPr>
        <p:spPr>
          <a:xfrm>
            <a:off x="1069848" y="1307592"/>
            <a:ext cx="23591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Access</a:t>
            </a:r>
          </a:p>
        </p:txBody>
      </p:sp>
      <p:sp>
        <p:nvSpPr>
          <p:cNvPr id="9" name="Shape 9"/>
          <p:cNvSpPr/>
          <p:nvPr/>
        </p:nvSpPr>
        <p:spPr>
          <a:xfrm>
            <a:off x="1069848" y="1645920"/>
            <a:ext cx="2359152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URL: http://localhost:3001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Local demo login is documented in LOCAL_ACCESS_GUIDE.md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Role/context: seller</a:t>
            </a:r>
          </a:p>
        </p:txBody>
      </p:sp>
      <p:sp>
        <p:nvSpPr>
          <p:cNvPr id="10" name="Shape 10"/>
          <p:cNvSpPr/>
          <p:nvPr/>
        </p:nvSpPr>
        <p:spPr>
          <a:xfrm>
            <a:off x="4023360" y="1325880"/>
            <a:ext cx="1280160" cy="5120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Login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5303520" y="1581912"/>
            <a:ext cx="50292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12" name="Shape 12"/>
          <p:cNvSpPr/>
          <p:nvPr/>
        </p:nvSpPr>
        <p:spPr>
          <a:xfrm>
            <a:off x="5806440" y="1325880"/>
            <a:ext cx="1417320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Products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7223760" y="1581912"/>
            <a:ext cx="50292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14" name="Shape 14"/>
          <p:cNvSpPr/>
          <p:nvPr/>
        </p:nvSpPr>
        <p:spPr>
          <a:xfrm>
            <a:off x="7726680" y="1325880"/>
            <a:ext cx="1325880" cy="512064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Orders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9052560" y="1581912"/>
            <a:ext cx="50292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16" name="Shape 16"/>
          <p:cNvSpPr/>
          <p:nvPr/>
        </p:nvSpPr>
        <p:spPr>
          <a:xfrm>
            <a:off x="9555480" y="1325880"/>
            <a:ext cx="1508760" cy="512064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6D28D9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Analytics</a:t>
            </a:r>
          </a:p>
        </p:txBody>
      </p:sp>
      <p:sp>
        <p:nvSpPr>
          <p:cNvPr id="17" name="Shape 17"/>
          <p:cNvSpPr/>
          <p:nvPr/>
        </p:nvSpPr>
        <p:spPr>
          <a:xfrm>
            <a:off x="685800" y="2788920"/>
            <a:ext cx="3383280" cy="1554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32104" y="2953512"/>
            <a:ext cx="109728" cy="122529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19" name="Shape 19"/>
          <p:cNvSpPr/>
          <p:nvPr/>
        </p:nvSpPr>
        <p:spPr>
          <a:xfrm>
            <a:off x="1069848" y="295351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Product Management</a:t>
            </a:r>
          </a:p>
        </p:txBody>
      </p:sp>
      <p:sp>
        <p:nvSpPr>
          <p:cNvPr id="20" name="Shape 20"/>
          <p:cNvSpPr/>
          <p:nvPr/>
        </p:nvSpPr>
        <p:spPr>
          <a:xfrm>
            <a:off x="1069848" y="3291840"/>
            <a:ext cx="2816352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Product list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New product editor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Edit product route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Category/product APIs through gateway</a:t>
            </a:r>
          </a:p>
        </p:txBody>
      </p:sp>
      <p:sp>
        <p:nvSpPr>
          <p:cNvPr id="21" name="Shape 21"/>
          <p:cNvSpPr/>
          <p:nvPr/>
        </p:nvSpPr>
        <p:spPr>
          <a:xfrm>
            <a:off x="4389120" y="2788920"/>
            <a:ext cx="3383280" cy="15544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22" name="Shape 22"/>
          <p:cNvSpPr/>
          <p:nvPr/>
        </p:nvSpPr>
        <p:spPr>
          <a:xfrm>
            <a:off x="4535424" y="2953512"/>
            <a:ext cx="109728" cy="1225296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23" name="Shape 23"/>
          <p:cNvSpPr/>
          <p:nvPr/>
        </p:nvSpPr>
        <p:spPr>
          <a:xfrm>
            <a:off x="4773168" y="295351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Commercial Tools</a:t>
            </a:r>
          </a:p>
        </p:txBody>
      </p:sp>
      <p:sp>
        <p:nvSpPr>
          <p:cNvPr id="24" name="Shape 24"/>
          <p:cNvSpPr/>
          <p:nvPr/>
        </p:nvSpPr>
        <p:spPr>
          <a:xfrm>
            <a:off x="4773168" y="3291840"/>
            <a:ext cx="2816352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Order list and detail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Fulfillment update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Offers page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Coupon editor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Campaign create page</a:t>
            </a:r>
          </a:p>
        </p:txBody>
      </p:sp>
      <p:sp>
        <p:nvSpPr>
          <p:cNvPr id="25" name="Shape 25"/>
          <p:cNvSpPr/>
          <p:nvPr/>
        </p:nvSpPr>
        <p:spPr>
          <a:xfrm>
            <a:off x="8092440" y="2788920"/>
            <a:ext cx="3383280" cy="15544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</p:sp>
      <p:sp>
        <p:nvSpPr>
          <p:cNvPr id="26" name="Shape 26"/>
          <p:cNvSpPr/>
          <p:nvPr/>
        </p:nvSpPr>
        <p:spPr>
          <a:xfrm>
            <a:off x="8238744" y="2953512"/>
            <a:ext cx="109728" cy="1225296"/>
          </a:xfrm>
          <a:prstGeom prst="rect">
            <a:avLst/>
          </a:prstGeom>
          <a:solidFill>
            <a:srgbClr val="6D28D9"/>
          </a:solidFill>
          <a:ln w="12700">
            <a:noFill/>
          </a:ln>
        </p:spPr>
      </p:sp>
      <p:sp>
        <p:nvSpPr>
          <p:cNvPr id="27" name="Shape 27"/>
          <p:cNvSpPr/>
          <p:nvPr/>
        </p:nvSpPr>
        <p:spPr>
          <a:xfrm>
            <a:off x="8476488" y="295351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Operations</a:t>
            </a:r>
          </a:p>
        </p:txBody>
      </p:sp>
      <p:sp>
        <p:nvSpPr>
          <p:cNvPr id="28" name="Shape 28"/>
          <p:cNvSpPr/>
          <p:nvPr/>
        </p:nvSpPr>
        <p:spPr>
          <a:xfrm>
            <a:off x="8476488" y="3291840"/>
            <a:ext cx="2816352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Revenue analytics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Team members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Activity/audit page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CMS service audit logs</a:t>
            </a:r>
          </a:p>
        </p:txBody>
      </p:sp>
      <p:sp>
        <p:nvSpPr>
          <p:cNvPr id="29" name="Shape 29"/>
          <p:cNvSpPr/>
          <p:nvPr/>
        </p:nvSpPr>
        <p:spPr>
          <a:xfrm>
            <a:off x="1234440" y="4892040"/>
            <a:ext cx="94183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30" name="Shape 30"/>
          <p:cNvSpPr/>
          <p:nvPr/>
        </p:nvSpPr>
        <p:spPr>
          <a:xfrm>
            <a:off x="1463040" y="5056632"/>
            <a:ext cx="896112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mid">
            <a:normAutofit fontScale="88000" lnSpcReduction="12000"/>
          </a:bodyPr>
          <a:lstStyle/>
          <a:p>
            <a:pPr algn="c"/>
            <a:r>
              <a:rPr lang="en-US" sz="1300" dirty="0">
                <a:solidFill>
                  <a:srgbClr val="64748B"/>
                </a:solidFill>
                <a:latin typeface="Aptos"/>
                <a:cs typeface="Aptos"/>
              </a:rPr>
              <a:t>Screenshot to be added: Seller Product Manager / Orders / Analytics</a:t>
            </a:r>
          </a:p>
        </p:txBody>
      </p:sp>
      <p:sp>
        <p:nvSpPr>
          <p:cNvPr id="31" name="Shape 31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32" name="Shape 32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Session Analytics Dashboard Journey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Operations analytics flow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143000"/>
            <a:ext cx="2971800" cy="13258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32104" y="1307592"/>
            <a:ext cx="109728" cy="996696"/>
          </a:xfrm>
          <a:prstGeom prst="rect">
            <a:avLst/>
          </a:prstGeom>
          <a:solidFill>
            <a:srgbClr val="6D28D9"/>
          </a:solidFill>
          <a:ln w="12700">
            <a:noFill/>
          </a:ln>
        </p:spPr>
      </p:sp>
      <p:sp>
        <p:nvSpPr>
          <p:cNvPr id="8" name="Shape 8"/>
          <p:cNvSpPr/>
          <p:nvPr/>
        </p:nvSpPr>
        <p:spPr>
          <a:xfrm>
            <a:off x="1069848" y="1307592"/>
            <a:ext cx="24048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Access</a:t>
            </a:r>
          </a:p>
        </p:txBody>
      </p:sp>
      <p:sp>
        <p:nvSpPr>
          <p:cNvPr id="9" name="Shape 9"/>
          <p:cNvSpPr/>
          <p:nvPr/>
        </p:nvSpPr>
        <p:spPr>
          <a:xfrm>
            <a:off x="1069848" y="1645920"/>
            <a:ext cx="2404872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URL: http://localhost:3002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Local demo operations admin is documented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Requires admin-level role</a:t>
            </a:r>
          </a:p>
        </p:txBody>
      </p:sp>
      <p:sp>
        <p:nvSpPr>
          <p:cNvPr id="10" name="Shape 10"/>
          <p:cNvSpPr/>
          <p:nvPr/>
        </p:nvSpPr>
        <p:spPr>
          <a:xfrm>
            <a:off x="3977640" y="1143000"/>
            <a:ext cx="297180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123944" y="1307592"/>
            <a:ext cx="109728" cy="99669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12" name="Shape 12"/>
          <p:cNvSpPr/>
          <p:nvPr/>
        </p:nvSpPr>
        <p:spPr>
          <a:xfrm>
            <a:off x="4361688" y="1307592"/>
            <a:ext cx="24048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Live Monitoring</a:t>
            </a:r>
          </a:p>
        </p:txBody>
      </p:sp>
      <p:sp>
        <p:nvSpPr>
          <p:cNvPr id="13" name="Shape 13"/>
          <p:cNvSpPr/>
          <p:nvPr/>
        </p:nvSpPr>
        <p:spPr>
          <a:xfrm>
            <a:off x="4361688" y="1645920"/>
            <a:ext cx="2404872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Overview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Live sessions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Active users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Events per minute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Device/channel filters</a:t>
            </a:r>
          </a:p>
        </p:txBody>
      </p:sp>
      <p:sp>
        <p:nvSpPr>
          <p:cNvPr id="14" name="Shape 14"/>
          <p:cNvSpPr/>
          <p:nvPr/>
        </p:nvSpPr>
        <p:spPr>
          <a:xfrm>
            <a:off x="7269480" y="1143000"/>
            <a:ext cx="3931920" cy="1325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7415784" y="1307592"/>
            <a:ext cx="109728" cy="99669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16" name="Shape 16"/>
          <p:cNvSpPr/>
          <p:nvPr/>
        </p:nvSpPr>
        <p:spPr>
          <a:xfrm>
            <a:off x="7653528" y="1307592"/>
            <a:ext cx="336499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Analysis Modules</a:t>
            </a:r>
          </a:p>
        </p:txBody>
      </p:sp>
      <p:sp>
        <p:nvSpPr>
          <p:cNvPr id="17" name="Shape 17"/>
          <p:cNvSpPr/>
          <p:nvPr/>
        </p:nvSpPr>
        <p:spPr>
          <a:xfrm>
            <a:off x="7653528" y="1645920"/>
            <a:ext cx="3364992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Journey explorer, funnel analysis, heatmaps, cohort retention, report export, scheduled reports, privacy controls</a:t>
            </a:r>
          </a:p>
        </p:txBody>
      </p:sp>
      <p:sp>
        <p:nvSpPr>
          <p:cNvPr id="18" name="Shape 18"/>
          <p:cNvSpPr/>
          <p:nvPr/>
        </p:nvSpPr>
        <p:spPr>
          <a:xfrm>
            <a:off x="914400" y="2971800"/>
            <a:ext cx="1143000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Live</a:t>
            </a:r>
          </a:p>
        </p:txBody>
      </p:sp>
      <p:cxnSp>
        <p:nvCxnSpPr>
          <p:cNvPr id="19" name="Connector 19"/>
          <p:cNvCxnSpPr/>
          <p:nvPr/>
        </p:nvCxnSpPr>
        <p:spPr>
          <a:xfrm>
            <a:off x="2057400" y="3227832"/>
            <a:ext cx="68580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20" name="Shape 20"/>
          <p:cNvSpPr/>
          <p:nvPr/>
        </p:nvSpPr>
        <p:spPr>
          <a:xfrm>
            <a:off x="2743200" y="2971800"/>
            <a:ext cx="1280160" cy="5120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Journey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4023360" y="3227832"/>
            <a:ext cx="68580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22" name="Shape 22"/>
          <p:cNvSpPr/>
          <p:nvPr/>
        </p:nvSpPr>
        <p:spPr>
          <a:xfrm>
            <a:off x="4709160" y="2971800"/>
            <a:ext cx="1234440" cy="512064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Funnels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5943600" y="3227832"/>
            <a:ext cx="68580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24" name="Shape 24"/>
          <p:cNvSpPr/>
          <p:nvPr/>
        </p:nvSpPr>
        <p:spPr>
          <a:xfrm>
            <a:off x="6629400" y="2971800"/>
            <a:ext cx="1325880" cy="51206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Heatmaps</a:t>
            </a:r>
          </a:p>
        </p:txBody>
      </p:sp>
      <p:cxnSp>
        <p:nvCxnSpPr>
          <p:cNvPr id="25" name="Connector 25"/>
          <p:cNvCxnSpPr/>
          <p:nvPr/>
        </p:nvCxnSpPr>
        <p:spPr>
          <a:xfrm>
            <a:off x="7955280" y="3227832"/>
            <a:ext cx="68580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26" name="Shape 26"/>
          <p:cNvSpPr/>
          <p:nvPr/>
        </p:nvSpPr>
        <p:spPr>
          <a:xfrm>
            <a:off x="8641080" y="2971800"/>
            <a:ext cx="1143000" cy="512064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6D28D9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Reports</a:t>
            </a:r>
          </a:p>
        </p:txBody>
      </p:sp>
      <p:cxnSp>
        <p:nvCxnSpPr>
          <p:cNvPr id="27" name="Connector 27"/>
          <p:cNvCxnSpPr/>
          <p:nvPr/>
        </p:nvCxnSpPr>
        <p:spPr>
          <a:xfrm>
            <a:off x="9784080" y="3227832"/>
            <a:ext cx="68580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28" name="Shape 28"/>
          <p:cNvSpPr/>
          <p:nvPr/>
        </p:nvSpPr>
        <p:spPr>
          <a:xfrm>
            <a:off x="10469880" y="2971800"/>
            <a:ext cx="10515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55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Privacy</a:t>
            </a:r>
          </a:p>
        </p:txBody>
      </p:sp>
      <p:sp>
        <p:nvSpPr>
          <p:cNvPr id="29" name="Shape 29"/>
          <p:cNvSpPr/>
          <p:nvPr/>
        </p:nvSpPr>
        <p:spPr>
          <a:xfrm>
            <a:off x="1143000" y="4343400"/>
            <a:ext cx="98298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30" name="Shape 30"/>
          <p:cNvSpPr/>
          <p:nvPr/>
        </p:nvSpPr>
        <p:spPr>
          <a:xfrm>
            <a:off x="1371600" y="4622292"/>
            <a:ext cx="937260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mid">
            <a:normAutofit fontScale="88000" lnSpcReduction="12000"/>
          </a:bodyPr>
          <a:lstStyle/>
          <a:p>
            <a:pPr algn="c"/>
            <a:r>
              <a:rPr lang="en-US" sz="1300" dirty="0">
                <a:solidFill>
                  <a:srgbClr val="64748B"/>
                </a:solidFill>
                <a:latin typeface="Aptos"/>
                <a:cs typeface="Aptos"/>
              </a:rPr>
              <a:t>Screenshot to be added: Analytics Overview / Funnel / Heatmap</a:t>
            </a:r>
          </a:p>
        </p:txBody>
      </p:sp>
      <p:sp>
        <p:nvSpPr>
          <p:cNvPr id="31" name="Shape 31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32" name="Shape 32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Superadmin Journey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Platform control plane flow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097280"/>
            <a:ext cx="2743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32104" y="1261872"/>
            <a:ext cx="109728" cy="996696"/>
          </a:xfrm>
          <a:prstGeom prst="rect">
            <a:avLst/>
          </a:prstGeom>
          <a:solidFill>
            <a:srgbClr val="12355B"/>
          </a:solidFill>
          <a:ln w="12700">
            <a:noFill/>
          </a:ln>
        </p:spPr>
      </p:sp>
      <p:sp>
        <p:nvSpPr>
          <p:cNvPr id="8" name="Shape 8"/>
          <p:cNvSpPr/>
          <p:nvPr/>
        </p:nvSpPr>
        <p:spPr>
          <a:xfrm>
            <a:off x="1069848" y="1261872"/>
            <a:ext cx="21762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Access</a:t>
            </a:r>
          </a:p>
        </p:txBody>
      </p:sp>
      <p:sp>
        <p:nvSpPr>
          <p:cNvPr id="9" name="Shape 9"/>
          <p:cNvSpPr/>
          <p:nvPr/>
        </p:nvSpPr>
        <p:spPr>
          <a:xfrm>
            <a:off x="1069848" y="1600200"/>
            <a:ext cx="2176272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URL: http://localhost:3003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Local demo superadmin is documented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Role: superadmin</a:t>
            </a:r>
          </a:p>
        </p:txBody>
      </p:sp>
      <p:sp>
        <p:nvSpPr>
          <p:cNvPr id="10" name="Shape 10"/>
          <p:cNvSpPr/>
          <p:nvPr/>
        </p:nvSpPr>
        <p:spPr>
          <a:xfrm>
            <a:off x="3657600" y="1097280"/>
            <a:ext cx="251460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3803904" y="1261872"/>
            <a:ext cx="109728" cy="99669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12" name="Shape 12"/>
          <p:cNvSpPr/>
          <p:nvPr/>
        </p:nvSpPr>
        <p:spPr>
          <a:xfrm>
            <a:off x="4041648" y="1261872"/>
            <a:ext cx="19476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User and Seller Controls</a:t>
            </a:r>
          </a:p>
        </p:txBody>
      </p:sp>
      <p:sp>
        <p:nvSpPr>
          <p:cNvPr id="13" name="Shape 13"/>
          <p:cNvSpPr/>
          <p:nvPr/>
        </p:nvSpPr>
        <p:spPr>
          <a:xfrm>
            <a:off x="4041648" y="1600200"/>
            <a:ext cx="1947672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User list/detail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User status updates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Seller list/review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Seller status updates</a:t>
            </a:r>
          </a:p>
        </p:txBody>
      </p:sp>
      <p:sp>
        <p:nvSpPr>
          <p:cNvPr id="14" name="Shape 14"/>
          <p:cNvSpPr/>
          <p:nvPr/>
        </p:nvSpPr>
        <p:spPr>
          <a:xfrm>
            <a:off x="6400800" y="1097280"/>
            <a:ext cx="2514600" cy="13258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547104" y="1261872"/>
            <a:ext cx="109728" cy="996696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16" name="Shape 16"/>
          <p:cNvSpPr/>
          <p:nvPr/>
        </p:nvSpPr>
        <p:spPr>
          <a:xfrm>
            <a:off x="6784848" y="1261872"/>
            <a:ext cx="19476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Orders and Payments</a:t>
            </a:r>
          </a:p>
        </p:txBody>
      </p:sp>
      <p:sp>
        <p:nvSpPr>
          <p:cNvPr id="17" name="Shape 17"/>
          <p:cNvSpPr/>
          <p:nvPr/>
        </p:nvSpPr>
        <p:spPr>
          <a:xfrm>
            <a:off x="6784848" y="1600200"/>
            <a:ext cx="1947672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Order operations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Order detail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Payment operations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Refund review</a:t>
            </a:r>
          </a:p>
        </p:txBody>
      </p:sp>
      <p:sp>
        <p:nvSpPr>
          <p:cNvPr id="18" name="Shape 18"/>
          <p:cNvSpPr/>
          <p:nvPr/>
        </p:nvSpPr>
        <p:spPr>
          <a:xfrm>
            <a:off x="9144000" y="1097280"/>
            <a:ext cx="2331720" cy="13258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9290304" y="1261872"/>
            <a:ext cx="109728" cy="996696"/>
          </a:xfrm>
          <a:prstGeom prst="rect">
            <a:avLst/>
          </a:prstGeom>
          <a:solidFill>
            <a:srgbClr val="6D28D9"/>
          </a:solidFill>
          <a:ln w="12700">
            <a:noFill/>
          </a:ln>
        </p:spPr>
      </p:sp>
      <p:sp>
        <p:nvSpPr>
          <p:cNvPr id="20" name="Shape 20"/>
          <p:cNvSpPr/>
          <p:nvPr/>
        </p:nvSpPr>
        <p:spPr>
          <a:xfrm>
            <a:off x="9528048" y="1261872"/>
            <a:ext cx="176479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Governance</a:t>
            </a:r>
          </a:p>
        </p:txBody>
      </p:sp>
      <p:sp>
        <p:nvSpPr>
          <p:cNvPr id="21" name="Shape 21"/>
          <p:cNvSpPr/>
          <p:nvPr/>
        </p:nvSpPr>
        <p:spPr>
          <a:xfrm>
            <a:off x="9528048" y="1600200"/>
            <a:ext cx="1764792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Session oversight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Platform settings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Admin audit logs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Search route placeholder</a:t>
            </a:r>
          </a:p>
        </p:txBody>
      </p:sp>
      <p:sp>
        <p:nvSpPr>
          <p:cNvPr id="22" name="Shape 22"/>
          <p:cNvSpPr/>
          <p:nvPr/>
        </p:nvSpPr>
        <p:spPr>
          <a:xfrm>
            <a:off x="914400" y="3063240"/>
            <a:ext cx="10241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3" name="Shape 23"/>
          <p:cNvSpPr/>
          <p:nvPr/>
        </p:nvSpPr>
        <p:spPr>
          <a:xfrm>
            <a:off x="1188720" y="3310128"/>
            <a:ext cx="969264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1400" dirty="0" b="1">
                <a:solidFill>
                  <a:srgbClr val="132033"/>
                </a:solidFill>
                <a:latin typeface="Aptos"/>
                <a:cs typeface="Aptos"/>
              </a:rPr>
              <a:t>Every high-risk admin mutation is designed to record audit evidence. Superadmin APIs coordinate with user, order, payment, session, and platform setting services through controlled backend handlers.</a:t>
            </a:r>
          </a:p>
        </p:txBody>
      </p:sp>
      <p:sp>
        <p:nvSpPr>
          <p:cNvPr id="24" name="Shape 24"/>
          <p:cNvSpPr/>
          <p:nvPr/>
        </p:nvSpPr>
        <p:spPr>
          <a:xfrm>
            <a:off x="1143000" y="4617720"/>
            <a:ext cx="9829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5" name="Shape 25"/>
          <p:cNvSpPr/>
          <p:nvPr/>
        </p:nvSpPr>
        <p:spPr>
          <a:xfrm>
            <a:off x="1371600" y="4850892"/>
            <a:ext cx="937260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mid">
            <a:normAutofit fontScale="88000" lnSpcReduction="12000"/>
          </a:bodyPr>
          <a:lstStyle/>
          <a:p>
            <a:pPr algn="c"/>
            <a:r>
              <a:rPr lang="en-US" sz="1300" dirty="0">
                <a:solidFill>
                  <a:srgbClr val="64748B"/>
                </a:solidFill>
                <a:latin typeface="Aptos"/>
                <a:cs typeface="Aptos"/>
              </a:rPr>
              <a:t>Screenshot to be added: Superadmin Users / Payments / Audit Logs</a:t>
            </a:r>
          </a:p>
        </p:txBody>
      </p:sp>
      <p:sp>
        <p:nvSpPr>
          <p:cNvPr id="26" name="Shape 26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27" name="Shape 2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Deployment and Local Run Overview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How the project is executed and operated locally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14300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32104" y="1307592"/>
            <a:ext cx="109728" cy="1179576"/>
          </a:xfrm>
          <a:prstGeom prst="rect">
            <a:avLst/>
          </a:prstGeom>
          <a:solidFill>
            <a:srgbClr val="12355B"/>
          </a:solidFill>
          <a:ln w="12700">
            <a:noFill/>
          </a:ln>
        </p:spPr>
      </p:sp>
      <p:sp>
        <p:nvSpPr>
          <p:cNvPr id="8" name="Shape 8"/>
          <p:cNvSpPr/>
          <p:nvPr/>
        </p:nvSpPr>
        <p:spPr>
          <a:xfrm>
            <a:off x="1069848" y="130759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Local Source of Truth</a:t>
            </a:r>
          </a:p>
        </p:txBody>
      </p:sp>
      <p:sp>
        <p:nvSpPr>
          <p:cNvPr id="9" name="Shape 9"/>
          <p:cNvSpPr/>
          <p:nvPr/>
        </p:nvSpPr>
        <p:spPr>
          <a:xfrm>
            <a:off x="1069848" y="1645920"/>
            <a:ext cx="2816352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Root docker-compose.yml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Starts frontend apps, backend services, databases, queues, observability tools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Runbook index documents startup order and checks</a:t>
            </a:r>
          </a:p>
        </p:txBody>
      </p:sp>
      <p:sp>
        <p:nvSpPr>
          <p:cNvPr id="10" name="Shape 10"/>
          <p:cNvSpPr/>
          <p:nvPr/>
        </p:nvSpPr>
        <p:spPr>
          <a:xfrm>
            <a:off x="4389120" y="1143000"/>
            <a:ext cx="3383280" cy="1508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535424" y="1307592"/>
            <a:ext cx="109728" cy="117957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12" name="Shape 12"/>
          <p:cNvSpPr/>
          <p:nvPr/>
        </p:nvSpPr>
        <p:spPr>
          <a:xfrm>
            <a:off x="4773168" y="130759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Main Local URLs</a:t>
            </a:r>
          </a:p>
        </p:txBody>
      </p:sp>
      <p:sp>
        <p:nvSpPr>
          <p:cNvPr id="13" name="Shape 13"/>
          <p:cNvSpPr/>
          <p:nvPr/>
        </p:nvSpPr>
        <p:spPr>
          <a:xfrm>
            <a:off x="4773168" y="1645920"/>
            <a:ext cx="2816352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User App :3000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Seller Dashboard :3001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Analytics :3002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Superadmin :3003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Gateway :8080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Mailpit, RabbitMQ, Prometheus, Jaeger</a:t>
            </a:r>
          </a:p>
        </p:txBody>
      </p:sp>
      <p:sp>
        <p:nvSpPr>
          <p:cNvPr id="14" name="Shape 14"/>
          <p:cNvSpPr/>
          <p:nvPr/>
        </p:nvSpPr>
        <p:spPr>
          <a:xfrm>
            <a:off x="8092440" y="1143000"/>
            <a:ext cx="3383280" cy="1508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238744" y="1307592"/>
            <a:ext cx="109728" cy="117957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16" name="Shape 16"/>
          <p:cNvSpPr/>
          <p:nvPr/>
        </p:nvSpPr>
        <p:spPr>
          <a:xfrm>
            <a:off x="8476488" y="130759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Deployment Assets</a:t>
            </a:r>
          </a:p>
        </p:txBody>
      </p:sp>
      <p:sp>
        <p:nvSpPr>
          <p:cNvPr id="17" name="Shape 17"/>
          <p:cNvSpPr/>
          <p:nvPr/>
        </p:nvSpPr>
        <p:spPr>
          <a:xfrm>
            <a:off x="8476488" y="1645920"/>
            <a:ext cx="2816352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14 backend Dockerfiles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Kubernetes/Kustomize manifests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Namespaces: edge, core, data, jobs, observability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Secrets examples and config maps</a:t>
            </a:r>
          </a:p>
        </p:txBody>
      </p:sp>
      <p:sp>
        <p:nvSpPr>
          <p:cNvPr id="18" name="Shape 18"/>
          <p:cNvSpPr/>
          <p:nvPr/>
        </p:nvSpPr>
        <p:spPr>
          <a:xfrm>
            <a:off x="1005840" y="3566160"/>
            <a:ext cx="18288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55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docker compose</a:t>
            </a:r>
          </a:p>
        </p:txBody>
      </p:sp>
      <p:cxnSp>
        <p:nvCxnSpPr>
          <p:cNvPr id="19" name="Connector 19"/>
          <p:cNvCxnSpPr/>
          <p:nvPr/>
        </p:nvCxnSpPr>
        <p:spPr>
          <a:xfrm>
            <a:off x="2834640" y="3822192"/>
            <a:ext cx="82296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20" name="Shape 20"/>
          <p:cNvSpPr/>
          <p:nvPr/>
        </p:nvSpPr>
        <p:spPr>
          <a:xfrm>
            <a:off x="3657600" y="3566160"/>
            <a:ext cx="1828800" cy="5120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Gateway + Services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5486400" y="3822192"/>
            <a:ext cx="82296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22" name="Shape 22"/>
          <p:cNvSpPr/>
          <p:nvPr/>
        </p:nvSpPr>
        <p:spPr>
          <a:xfrm>
            <a:off x="6309360" y="3566160"/>
            <a:ext cx="1828800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Data Stores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8138160" y="3822192"/>
            <a:ext cx="822960" cy="1"/>
          </a:xfrm>
          <a:prstGeom prst="line">
            <a:avLst/>
          </a:prstGeom>
          <a:ln w="25400">
            <a:solidFill>
              <a:srgbClr val="12355B"/>
            </a:solidFill>
            <a:headEnd type="triangle"/>
          </a:ln>
        </p:spPr>
      </p:cxnSp>
      <p:sp>
        <p:nvSpPr>
          <p:cNvPr id="24" name="Shape 24"/>
          <p:cNvSpPr/>
          <p:nvPr/>
        </p:nvSpPr>
        <p:spPr>
          <a:xfrm>
            <a:off x="8961120" y="3566160"/>
            <a:ext cx="1828800" cy="512064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txBody>
          <a:bodyPr wrap="square" lIns="101600" rIns="101600" tIns="101600" bIns="101600" anchor="mid">
            <a:normAutofit fontScale="88000" lnSpcReduction="12000"/>
          </a:bodyPr>
          <a:lstStyle/>
          <a:p>
            <a:pPr algn="c"/>
            <a:r>
              <a:rPr lang="en-US" sz="1000" dirty="0" b="1">
                <a:solidFill>
                  <a:srgbClr val="132033"/>
                </a:solidFill>
                <a:latin typeface="Aptos"/>
                <a:cs typeface="Aptos"/>
              </a:rPr>
              <a:t>Health + Logs</a:t>
            </a:r>
          </a:p>
        </p:txBody>
      </p:sp>
      <p:sp>
        <p:nvSpPr>
          <p:cNvPr id="25" name="Shape 25"/>
          <p:cNvSpPr/>
          <p:nvPr/>
        </p:nvSpPr>
        <p:spPr>
          <a:xfrm>
            <a:off x="1005840" y="4864608"/>
            <a:ext cx="1005840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1200" dirty="0" b="1">
                <a:solidFill>
                  <a:srgbClr val="132033"/>
                </a:solidFill>
                <a:latin typeface="Aptos"/>
                <a:cs typeface="Aptos"/>
              </a:rPr>
              <a:t>Command: docker compose up -d --build | Verify: http://localhost:8080/health/live and /health/ready</a:t>
            </a:r>
          </a:p>
        </p:txBody>
      </p:sp>
      <p:sp>
        <p:nvSpPr>
          <p:cNvPr id="26" name="Shape 26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27" name="Shape 2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Testing and Validation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Evidence found in source and CI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777240" y="114300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86968" y="1289304"/>
            <a:ext cx="91440" cy="658368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8" name="Shape 8"/>
          <p:cNvSpPr/>
          <p:nvPr/>
        </p:nvSpPr>
        <p:spPr>
          <a:xfrm>
            <a:off x="1069848" y="1307592"/>
            <a:ext cx="196596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300" dirty="0" b="1">
                <a:solidFill>
                  <a:srgbClr val="2563EB"/>
                </a:solidFill>
                <a:latin typeface="Aptos"/>
                <a:cs typeface="Aptos"/>
              </a:rPr>
              <a:t>305</a:t>
            </a:r>
          </a:p>
        </p:txBody>
      </p:sp>
      <p:sp>
        <p:nvSpPr>
          <p:cNvPr id="9" name="Shape 9"/>
          <p:cNvSpPr/>
          <p:nvPr/>
        </p:nvSpPr>
        <p:spPr>
          <a:xfrm>
            <a:off x="1088136" y="1673352"/>
            <a:ext cx="19659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000" dirty="0">
                <a:solidFill>
                  <a:srgbClr val="64748B"/>
                </a:solidFill>
                <a:latin typeface="Aptos"/>
                <a:cs typeface="Aptos"/>
              </a:rPr>
              <a:t>backend Go test files</a:t>
            </a:r>
          </a:p>
        </p:txBody>
      </p:sp>
      <p:sp>
        <p:nvSpPr>
          <p:cNvPr id="10" name="Shape 10"/>
          <p:cNvSpPr/>
          <p:nvPr/>
        </p:nvSpPr>
        <p:spPr>
          <a:xfrm>
            <a:off x="3520440" y="114300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3630168" y="1289304"/>
            <a:ext cx="91440" cy="658368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12" name="Shape 12"/>
          <p:cNvSpPr/>
          <p:nvPr/>
        </p:nvSpPr>
        <p:spPr>
          <a:xfrm>
            <a:off x="3813048" y="1307592"/>
            <a:ext cx="196596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300" dirty="0" b="1">
                <a:solidFill>
                  <a:srgbClr val="0F766E"/>
                </a:solidFill>
                <a:latin typeface="Aptos"/>
                <a:cs typeface="Aptos"/>
              </a:rPr>
              <a:t>461</a:t>
            </a:r>
          </a:p>
        </p:txBody>
      </p:sp>
      <p:sp>
        <p:nvSpPr>
          <p:cNvPr id="13" name="Shape 13"/>
          <p:cNvSpPr/>
          <p:nvPr/>
        </p:nvSpPr>
        <p:spPr>
          <a:xfrm>
            <a:off x="3831336" y="1673352"/>
            <a:ext cx="19659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000" dirty="0">
                <a:solidFill>
                  <a:srgbClr val="64748B"/>
                </a:solidFill>
                <a:latin typeface="Aptos"/>
                <a:cs typeface="Aptos"/>
              </a:rPr>
              <a:t>frontend test/spec files</a:t>
            </a:r>
          </a:p>
        </p:txBody>
      </p:sp>
      <p:sp>
        <p:nvSpPr>
          <p:cNvPr id="14" name="Shape 14"/>
          <p:cNvSpPr/>
          <p:nvPr/>
        </p:nvSpPr>
        <p:spPr>
          <a:xfrm>
            <a:off x="6263640" y="114300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373368" y="1289304"/>
            <a:ext cx="91440" cy="65836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16" name="Shape 16"/>
          <p:cNvSpPr/>
          <p:nvPr/>
        </p:nvSpPr>
        <p:spPr>
          <a:xfrm>
            <a:off x="6556248" y="1307592"/>
            <a:ext cx="196596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300" dirty="0" b="1">
                <a:solidFill>
                  <a:srgbClr val="F59E0B"/>
                </a:solidFill>
                <a:latin typeface="Aptos"/>
                <a:cs typeface="Aptos"/>
              </a:rPr>
              <a:t>136</a:t>
            </a:r>
          </a:p>
        </p:txBody>
      </p:sp>
      <p:sp>
        <p:nvSpPr>
          <p:cNvPr id="17" name="Shape 17"/>
          <p:cNvSpPr/>
          <p:nvPr/>
        </p:nvSpPr>
        <p:spPr>
          <a:xfrm>
            <a:off x="6574536" y="1673352"/>
            <a:ext cx="19659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000" dirty="0">
                <a:solidFill>
                  <a:srgbClr val="64748B"/>
                </a:solidFill>
                <a:latin typeface="Aptos"/>
                <a:cs typeface="Aptos"/>
              </a:rPr>
              <a:t>service migration files</a:t>
            </a:r>
          </a:p>
        </p:txBody>
      </p:sp>
      <p:sp>
        <p:nvSpPr>
          <p:cNvPr id="18" name="Shape 18"/>
          <p:cNvSpPr/>
          <p:nvPr/>
        </p:nvSpPr>
        <p:spPr>
          <a:xfrm>
            <a:off x="9006840" y="114300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9116568" y="1289304"/>
            <a:ext cx="91440" cy="658368"/>
          </a:xfrm>
          <a:prstGeom prst="rect">
            <a:avLst/>
          </a:prstGeom>
          <a:solidFill>
            <a:srgbClr val="6D28D9"/>
          </a:solidFill>
          <a:ln w="12700">
            <a:noFill/>
          </a:ln>
        </p:spPr>
      </p:sp>
      <p:sp>
        <p:nvSpPr>
          <p:cNvPr id="20" name="Shape 20"/>
          <p:cNvSpPr/>
          <p:nvPr/>
        </p:nvSpPr>
        <p:spPr>
          <a:xfrm>
            <a:off x="9299448" y="1307592"/>
            <a:ext cx="196596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300" dirty="0" b="1">
                <a:solidFill>
                  <a:srgbClr val="6D28D9"/>
                </a:solidFill>
                <a:latin typeface="Aptos"/>
                <a:cs typeface="Aptos"/>
              </a:rPr>
              <a:t>14</a:t>
            </a:r>
          </a:p>
        </p:txBody>
      </p:sp>
      <p:sp>
        <p:nvSpPr>
          <p:cNvPr id="21" name="Shape 21"/>
          <p:cNvSpPr/>
          <p:nvPr/>
        </p:nvSpPr>
        <p:spPr>
          <a:xfrm>
            <a:off x="9317736" y="1673352"/>
            <a:ext cx="19659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000" dirty="0">
                <a:solidFill>
                  <a:srgbClr val="64748B"/>
                </a:solidFill>
                <a:latin typeface="Aptos"/>
                <a:cs typeface="Aptos"/>
              </a:rPr>
              <a:t>service Dockerfiles</a:t>
            </a:r>
          </a:p>
        </p:txBody>
      </p:sp>
      <p:sp>
        <p:nvSpPr>
          <p:cNvPr id="22" name="Shape 22"/>
          <p:cNvSpPr/>
          <p:nvPr/>
        </p:nvSpPr>
        <p:spPr>
          <a:xfrm>
            <a:off x="777240" y="2788920"/>
            <a:ext cx="3383280" cy="1508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23" name="Shape 23"/>
          <p:cNvSpPr/>
          <p:nvPr/>
        </p:nvSpPr>
        <p:spPr>
          <a:xfrm>
            <a:off x="923544" y="2953512"/>
            <a:ext cx="109728" cy="117957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24" name="Shape 24"/>
          <p:cNvSpPr/>
          <p:nvPr/>
        </p:nvSpPr>
        <p:spPr>
          <a:xfrm>
            <a:off x="1161288" y="295351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Backend CI</a:t>
            </a:r>
          </a:p>
        </p:txBody>
      </p:sp>
      <p:sp>
        <p:nvSpPr>
          <p:cNvPr id="25" name="Shape 25"/>
          <p:cNvSpPr/>
          <p:nvPr/>
        </p:nvSpPr>
        <p:spPr>
          <a:xfrm>
            <a:off x="1161288" y="3291840"/>
            <a:ext cx="2816352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go test ./...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go vet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gofmt check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golangci-lint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Docker build checks</a:t>
            </a:r>
          </a:p>
        </p:txBody>
      </p:sp>
      <p:sp>
        <p:nvSpPr>
          <p:cNvPr id="26" name="Shape 26"/>
          <p:cNvSpPr/>
          <p:nvPr/>
        </p:nvSpPr>
        <p:spPr>
          <a:xfrm>
            <a:off x="4434840" y="2788920"/>
            <a:ext cx="3383280" cy="1508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27" name="Shape 27"/>
          <p:cNvSpPr/>
          <p:nvPr/>
        </p:nvSpPr>
        <p:spPr>
          <a:xfrm>
            <a:off x="4581144" y="2953512"/>
            <a:ext cx="109728" cy="117957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28" name="Shape 28"/>
          <p:cNvSpPr/>
          <p:nvPr/>
        </p:nvSpPr>
        <p:spPr>
          <a:xfrm>
            <a:off x="4818888" y="295351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Frontend CI</a:t>
            </a:r>
          </a:p>
        </p:txBody>
      </p:sp>
      <p:sp>
        <p:nvSpPr>
          <p:cNvPr id="29" name="Shape 29"/>
          <p:cNvSpPr/>
          <p:nvPr/>
        </p:nvSpPr>
        <p:spPr>
          <a:xfrm>
            <a:off x="4818888" y="3291840"/>
            <a:ext cx="2816352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workspace tests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lint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typecheck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build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React Testing Library and Vitest evidence</a:t>
            </a:r>
          </a:p>
        </p:txBody>
      </p:sp>
      <p:sp>
        <p:nvSpPr>
          <p:cNvPr id="30" name="Shape 30"/>
          <p:cNvSpPr/>
          <p:nvPr/>
        </p:nvSpPr>
        <p:spPr>
          <a:xfrm>
            <a:off x="8092440" y="2788920"/>
            <a:ext cx="3383280" cy="15087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238744" y="2953512"/>
            <a:ext cx="109728" cy="1179576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32" name="Shape 32"/>
          <p:cNvSpPr/>
          <p:nvPr/>
        </p:nvSpPr>
        <p:spPr>
          <a:xfrm>
            <a:off x="8476488" y="2953512"/>
            <a:ext cx="281635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Contract and Security</a:t>
            </a:r>
          </a:p>
        </p:txBody>
      </p:sp>
      <p:sp>
        <p:nvSpPr>
          <p:cNvPr id="33" name="Shape 33"/>
          <p:cNvSpPr/>
          <p:nvPr/>
        </p:nvSpPr>
        <p:spPr>
          <a:xfrm>
            <a:off x="8476488" y="3291840"/>
            <a:ext cx="2816352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buf lint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buf breaking check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generated client verification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Hadolint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Trivy high/critical scan</a:t>
            </a:r>
          </a:p>
        </p:txBody>
      </p:sp>
      <p:sp>
        <p:nvSpPr>
          <p:cNvPr id="34" name="Shape 34"/>
          <p:cNvSpPr/>
          <p:nvPr/>
        </p:nvSpPr>
        <p:spPr>
          <a:xfrm>
            <a:off x="1005840" y="4983480"/>
            <a:ext cx="10104120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</p:sp>
      <p:sp>
        <p:nvSpPr>
          <p:cNvPr id="35" name="Shape 35"/>
          <p:cNvSpPr/>
          <p:nvPr/>
        </p:nvSpPr>
        <p:spPr>
          <a:xfrm>
            <a:off x="1188720" y="5111496"/>
            <a:ext cx="97383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1100" dirty="0" b="1">
                <a:solidFill>
                  <a:srgbClr val="DC2626"/>
                </a:solidFill>
                <a:latin typeface="Aptos"/>
                <a:cs typeface="Aptos"/>
              </a:rPr>
              <a:t>Known test gap: dedicated full browser E2E automation was not found in the repository.</a:t>
            </a:r>
          </a:p>
        </p:txBody>
      </p:sp>
      <p:sp>
        <p:nvSpPr>
          <p:cNvPr id="36" name="Shape 36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37" name="Shape 3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Challenges Faced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Practical engineering problems addressed by the project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14300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32104" y="1307592"/>
            <a:ext cx="109728" cy="813816"/>
          </a:xfrm>
          <a:prstGeom prst="rect">
            <a:avLst/>
          </a:prstGeom>
          <a:solidFill>
            <a:srgbClr val="12355B"/>
          </a:solidFill>
          <a:ln w="12700">
            <a:noFill/>
          </a:ln>
        </p:spPr>
      </p:sp>
      <p:sp>
        <p:nvSpPr>
          <p:cNvPr id="8" name="Shape 8"/>
          <p:cNvSpPr/>
          <p:nvPr/>
        </p:nvSpPr>
        <p:spPr>
          <a:xfrm>
            <a:off x="1069848" y="1307592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Service Boundaries</a:t>
            </a:r>
          </a:p>
        </p:txBody>
      </p:sp>
      <p:sp>
        <p:nvSpPr>
          <p:cNvPr id="9" name="Shape 9"/>
          <p:cNvSpPr/>
          <p:nvPr/>
        </p:nvSpPr>
        <p:spPr>
          <a:xfrm>
            <a:off x="1069848" y="1645920"/>
            <a:ext cx="2862072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Separating responsibilities while avoiding direct cross-service database access.</a:t>
            </a:r>
          </a:p>
        </p:txBody>
      </p:sp>
      <p:sp>
        <p:nvSpPr>
          <p:cNvPr id="10" name="Shape 10"/>
          <p:cNvSpPr/>
          <p:nvPr/>
        </p:nvSpPr>
        <p:spPr>
          <a:xfrm>
            <a:off x="4389120" y="114300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535424" y="1307592"/>
            <a:ext cx="109728" cy="81381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12" name="Shape 12"/>
          <p:cNvSpPr/>
          <p:nvPr/>
        </p:nvSpPr>
        <p:spPr>
          <a:xfrm>
            <a:off x="4773168" y="1307592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Auth and Roles</a:t>
            </a:r>
          </a:p>
        </p:txBody>
      </p:sp>
      <p:sp>
        <p:nvSpPr>
          <p:cNvPr id="13" name="Shape 13"/>
          <p:cNvSpPr/>
          <p:nvPr/>
        </p:nvSpPr>
        <p:spPr>
          <a:xfrm>
            <a:off x="4773168" y="1645920"/>
            <a:ext cx="2862072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Supporting buyer, seller, admin, and superadmin workflows with different route guards.</a:t>
            </a:r>
          </a:p>
        </p:txBody>
      </p:sp>
      <p:sp>
        <p:nvSpPr>
          <p:cNvPr id="14" name="Shape 14"/>
          <p:cNvSpPr/>
          <p:nvPr/>
        </p:nvSpPr>
        <p:spPr>
          <a:xfrm>
            <a:off x="8092440" y="1143000"/>
            <a:ext cx="3429000" cy="1143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238744" y="1307592"/>
            <a:ext cx="109728" cy="813816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16" name="Shape 16"/>
          <p:cNvSpPr/>
          <p:nvPr/>
        </p:nvSpPr>
        <p:spPr>
          <a:xfrm>
            <a:off x="8476488" y="1307592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Checkout Consistency</a:t>
            </a:r>
          </a:p>
        </p:txBody>
      </p:sp>
      <p:sp>
        <p:nvSpPr>
          <p:cNvPr id="17" name="Shape 17"/>
          <p:cNvSpPr/>
          <p:nvPr/>
        </p:nvSpPr>
        <p:spPr>
          <a:xfrm>
            <a:off x="8476488" y="1645920"/>
            <a:ext cx="2862072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Coordinating cart, inventory, order, payment intent, webhook, and refund behavior.</a:t>
            </a:r>
          </a:p>
        </p:txBody>
      </p:sp>
      <p:sp>
        <p:nvSpPr>
          <p:cNvPr id="18" name="Shape 18"/>
          <p:cNvSpPr/>
          <p:nvPr/>
        </p:nvSpPr>
        <p:spPr>
          <a:xfrm>
            <a:off x="685800" y="2834640"/>
            <a:ext cx="3429000" cy="1143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832104" y="2999232"/>
            <a:ext cx="109728" cy="8138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20" name="Shape 20"/>
          <p:cNvSpPr/>
          <p:nvPr/>
        </p:nvSpPr>
        <p:spPr>
          <a:xfrm>
            <a:off x="1069848" y="2999232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Search and Events</a:t>
            </a:r>
          </a:p>
        </p:txBody>
      </p:sp>
      <p:sp>
        <p:nvSpPr>
          <p:cNvPr id="21" name="Shape 21"/>
          <p:cNvSpPr/>
          <p:nvPr/>
        </p:nvSpPr>
        <p:spPr>
          <a:xfrm>
            <a:off x="1069848" y="3337560"/>
            <a:ext cx="2862072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Keeping product search index and recommendations updated without blocking user requests.</a:t>
            </a:r>
          </a:p>
        </p:txBody>
      </p:sp>
      <p:sp>
        <p:nvSpPr>
          <p:cNvPr id="22" name="Shape 22"/>
          <p:cNvSpPr/>
          <p:nvPr/>
        </p:nvSpPr>
        <p:spPr>
          <a:xfrm>
            <a:off x="4389120" y="2834640"/>
            <a:ext cx="3429000" cy="1143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</p:sp>
      <p:sp>
        <p:nvSpPr>
          <p:cNvPr id="23" name="Shape 23"/>
          <p:cNvSpPr/>
          <p:nvPr/>
        </p:nvSpPr>
        <p:spPr>
          <a:xfrm>
            <a:off x="4535424" y="2999232"/>
            <a:ext cx="109728" cy="813816"/>
          </a:xfrm>
          <a:prstGeom prst="rect">
            <a:avLst/>
          </a:prstGeom>
          <a:solidFill>
            <a:srgbClr val="6D28D9"/>
          </a:solidFill>
          <a:ln w="12700">
            <a:noFill/>
          </a:ln>
        </p:spPr>
      </p:sp>
      <p:sp>
        <p:nvSpPr>
          <p:cNvPr id="24" name="Shape 24"/>
          <p:cNvSpPr/>
          <p:nvPr/>
        </p:nvSpPr>
        <p:spPr>
          <a:xfrm>
            <a:off x="4773168" y="2999232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Local Orchestration</a:t>
            </a:r>
          </a:p>
        </p:txBody>
      </p:sp>
      <p:sp>
        <p:nvSpPr>
          <p:cNvPr id="25" name="Shape 25"/>
          <p:cNvSpPr/>
          <p:nvPr/>
        </p:nvSpPr>
        <p:spPr>
          <a:xfrm>
            <a:off x="4773168" y="3337560"/>
            <a:ext cx="2862072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Running many services, data systems, migrations, health checks, and frontends together.</a:t>
            </a:r>
          </a:p>
        </p:txBody>
      </p:sp>
      <p:sp>
        <p:nvSpPr>
          <p:cNvPr id="26" name="Shape 26"/>
          <p:cNvSpPr/>
          <p:nvPr/>
        </p:nvSpPr>
        <p:spPr>
          <a:xfrm>
            <a:off x="8092440" y="2834640"/>
            <a:ext cx="3429000" cy="1143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</p:sp>
      <p:sp>
        <p:nvSpPr>
          <p:cNvPr id="27" name="Shape 27"/>
          <p:cNvSpPr/>
          <p:nvPr/>
        </p:nvSpPr>
        <p:spPr>
          <a:xfrm>
            <a:off x="8238744" y="2999232"/>
            <a:ext cx="109728" cy="813816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</p:sp>
      <p:sp>
        <p:nvSpPr>
          <p:cNvPr id="28" name="Shape 28"/>
          <p:cNvSpPr/>
          <p:nvPr/>
        </p:nvSpPr>
        <p:spPr>
          <a:xfrm>
            <a:off x="8476488" y="2999232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Documentation Accuracy</a:t>
            </a:r>
          </a:p>
        </p:txBody>
      </p:sp>
      <p:sp>
        <p:nvSpPr>
          <p:cNvPr id="29" name="Shape 29"/>
          <p:cNvSpPr/>
          <p:nvPr/>
        </p:nvSpPr>
        <p:spPr>
          <a:xfrm>
            <a:off x="8476488" y="3337560"/>
            <a:ext cx="2862072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Keeping report, API catalog, route code, runbooks, and limitations aligned.</a:t>
            </a:r>
          </a:p>
        </p:txBody>
      </p:sp>
      <p:sp>
        <p:nvSpPr>
          <p:cNvPr id="30" name="Shape 30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31" name="Shape 31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Limitations and Assumptions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Honest boundaries for college viva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078992"/>
            <a:ext cx="3429000" cy="1371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32104" y="1243584"/>
            <a:ext cx="109728" cy="1042416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</p:sp>
      <p:sp>
        <p:nvSpPr>
          <p:cNvPr id="8" name="Shape 8"/>
          <p:cNvSpPr/>
          <p:nvPr/>
        </p:nvSpPr>
        <p:spPr>
          <a:xfrm>
            <a:off x="1069848" y="1243584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Local Demo Limits</a:t>
            </a:r>
          </a:p>
        </p:txBody>
      </p:sp>
      <p:sp>
        <p:nvSpPr>
          <p:cNvPr id="9" name="Shape 9"/>
          <p:cNvSpPr/>
          <p:nvPr/>
        </p:nvSpPr>
        <p:spPr>
          <a:xfrm>
            <a:off x="1069848" y="1581912"/>
            <a:ext cx="2862072" cy="7315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Buyer seed credentials not found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Payment providers disabled in local defaults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Payment events endpoint blank by default</a:t>
            </a:r>
          </a:p>
        </p:txBody>
      </p:sp>
      <p:sp>
        <p:nvSpPr>
          <p:cNvPr id="10" name="Shape 10"/>
          <p:cNvSpPr/>
          <p:nvPr/>
        </p:nvSpPr>
        <p:spPr>
          <a:xfrm>
            <a:off x="4389120" y="1078992"/>
            <a:ext cx="3429000" cy="1371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535424" y="1243584"/>
            <a:ext cx="109728" cy="1042416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12" name="Shape 12"/>
          <p:cNvSpPr/>
          <p:nvPr/>
        </p:nvSpPr>
        <p:spPr>
          <a:xfrm>
            <a:off x="4773168" y="1243584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Implementation Gaps</a:t>
            </a:r>
          </a:p>
        </p:txBody>
      </p:sp>
      <p:sp>
        <p:nvSpPr>
          <p:cNvPr id="13" name="Shape 13"/>
          <p:cNvSpPr/>
          <p:nvPr/>
        </p:nvSpPr>
        <p:spPr>
          <a:xfrm>
            <a:off x="4773168" y="1581912"/>
            <a:ext cx="2862072" cy="7315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Superadmin search route is a placeholder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Dedicated browser E2E tests not found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Public password reset route mismatch noted in report</a:t>
            </a:r>
          </a:p>
        </p:txBody>
      </p:sp>
      <p:sp>
        <p:nvSpPr>
          <p:cNvPr id="14" name="Shape 14"/>
          <p:cNvSpPr/>
          <p:nvPr/>
        </p:nvSpPr>
        <p:spPr>
          <a:xfrm>
            <a:off x="8092440" y="1078992"/>
            <a:ext cx="342900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238744" y="1243584"/>
            <a:ext cx="109728" cy="104241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16" name="Shape 16"/>
          <p:cNvSpPr/>
          <p:nvPr/>
        </p:nvSpPr>
        <p:spPr>
          <a:xfrm>
            <a:off x="8476488" y="1243584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Deployment Limits</a:t>
            </a:r>
          </a:p>
        </p:txBody>
      </p:sp>
      <p:sp>
        <p:nvSpPr>
          <p:cNvPr id="17" name="Shape 17"/>
          <p:cNvSpPr/>
          <p:nvPr/>
        </p:nvSpPr>
        <p:spPr>
          <a:xfrm>
            <a:off x="8476488" y="1581912"/>
            <a:ext cx="2862072" cy="7315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Production secrets are not committed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Kubernetes manifests exist but complete production deployment is not proven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Production incident runbooks need expansion</a:t>
            </a:r>
          </a:p>
        </p:txBody>
      </p:sp>
      <p:sp>
        <p:nvSpPr>
          <p:cNvPr id="18" name="Shape 18"/>
          <p:cNvSpPr/>
          <p:nvPr/>
        </p:nvSpPr>
        <p:spPr>
          <a:xfrm>
            <a:off x="868680" y="3127248"/>
            <a:ext cx="103784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1143000" y="3337560"/>
            <a:ext cx="982980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1400" dirty="0" b="1">
                <a:solidFill>
                  <a:srgbClr val="132033"/>
                </a:solidFill>
                <a:latin typeface="Aptos"/>
                <a:cs typeface="Aptos"/>
              </a:rPr>
              <a:t>Screenshot assumption: Headless Chrome and Edge both exited with code 13 in this environment, so the deck uses explicit screenshot placeholders instead of fabricated images.</a:t>
            </a:r>
          </a:p>
        </p:txBody>
      </p:sp>
      <p:sp>
        <p:nvSpPr>
          <p:cNvPr id="20" name="Shape 20"/>
          <p:cNvSpPr/>
          <p:nvPr/>
        </p:nvSpPr>
        <p:spPr>
          <a:xfrm>
            <a:off x="1143000" y="4800600"/>
            <a:ext cx="982980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1100" dirty="0">
                <a:solidFill>
                  <a:srgbClr val="64748B"/>
                </a:solidFill>
                <a:latin typeface="Aptos"/>
                <a:cs typeface="Aptos"/>
              </a:rPr>
              <a:t>Academic assumption: Student name is taken from the provided file name. Other college details should be filled by the student before final submission.</a:t>
            </a:r>
          </a:p>
        </p:txBody>
      </p:sp>
      <p:sp>
        <p:nvSpPr>
          <p:cNvPr id="21" name="Shape 21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22" name="Shape 22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Future Enhancements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Next steps for stronger production readiness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097280"/>
            <a:ext cx="342900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32104" y="1261872"/>
            <a:ext cx="109728" cy="99669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8" name="Shape 8"/>
          <p:cNvSpPr/>
          <p:nvPr/>
        </p:nvSpPr>
        <p:spPr>
          <a:xfrm>
            <a:off x="1069848" y="1261872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Functional Enhancements</a:t>
            </a:r>
          </a:p>
        </p:txBody>
      </p:sp>
      <p:sp>
        <p:nvSpPr>
          <p:cNvPr id="9" name="Shape 9"/>
          <p:cNvSpPr/>
          <p:nvPr/>
        </p:nvSpPr>
        <p:spPr>
          <a:xfrm>
            <a:off x="1069848" y="1600200"/>
            <a:ext cx="2862072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Add buyer seed/demo account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Complete superadmin search module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Configure sandbox payment provider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Improve notification provider webhooks</a:t>
            </a:r>
          </a:p>
        </p:txBody>
      </p:sp>
      <p:sp>
        <p:nvSpPr>
          <p:cNvPr id="10" name="Shape 10"/>
          <p:cNvSpPr/>
          <p:nvPr/>
        </p:nvSpPr>
        <p:spPr>
          <a:xfrm>
            <a:off x="4389120" y="1097280"/>
            <a:ext cx="3429000" cy="1325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535424" y="1261872"/>
            <a:ext cx="109728" cy="99669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12" name="Shape 12"/>
          <p:cNvSpPr/>
          <p:nvPr/>
        </p:nvSpPr>
        <p:spPr>
          <a:xfrm>
            <a:off x="4773168" y="1261872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Quality Enhancements</a:t>
            </a:r>
          </a:p>
        </p:txBody>
      </p:sp>
      <p:sp>
        <p:nvSpPr>
          <p:cNvPr id="13" name="Shape 13"/>
          <p:cNvSpPr/>
          <p:nvPr/>
        </p:nvSpPr>
        <p:spPr>
          <a:xfrm>
            <a:off x="4773168" y="1600200"/>
            <a:ext cx="2862072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Add Playwright/Cypress E2E tests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Add contract drift tests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Capture final screenshots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Add mobile visual validation</a:t>
            </a:r>
          </a:p>
        </p:txBody>
      </p:sp>
      <p:sp>
        <p:nvSpPr>
          <p:cNvPr id="14" name="Shape 14"/>
          <p:cNvSpPr/>
          <p:nvPr/>
        </p:nvSpPr>
        <p:spPr>
          <a:xfrm>
            <a:off x="8092440" y="1097280"/>
            <a:ext cx="3429000" cy="13258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238744" y="1261872"/>
            <a:ext cx="109728" cy="996696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16" name="Shape 16"/>
          <p:cNvSpPr/>
          <p:nvPr/>
        </p:nvSpPr>
        <p:spPr>
          <a:xfrm>
            <a:off x="8476488" y="1261872"/>
            <a:ext cx="286207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DevOps Enhancements</a:t>
            </a:r>
          </a:p>
        </p:txBody>
      </p:sp>
      <p:sp>
        <p:nvSpPr>
          <p:cNvPr id="17" name="Shape 17"/>
          <p:cNvSpPr/>
          <p:nvPr/>
        </p:nvSpPr>
        <p:spPr>
          <a:xfrm>
            <a:off x="8476488" y="1600200"/>
            <a:ext cx="2862072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Production secret management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Helm charts or complete overlays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Backup/restore runbooks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Incident response runbooks</a:t>
            </a:r>
          </a:p>
        </p:txBody>
      </p:sp>
      <p:sp>
        <p:nvSpPr>
          <p:cNvPr id="18" name="Shape 18"/>
          <p:cNvSpPr/>
          <p:nvPr/>
        </p:nvSpPr>
        <p:spPr>
          <a:xfrm>
            <a:off x="1143000" y="3154680"/>
            <a:ext cx="4663440" cy="13258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1289304" y="3319272"/>
            <a:ext cx="109728" cy="996696"/>
          </a:xfrm>
          <a:prstGeom prst="rect">
            <a:avLst/>
          </a:prstGeom>
          <a:solidFill>
            <a:srgbClr val="6D28D9"/>
          </a:solidFill>
          <a:ln w="12700">
            <a:noFill/>
          </a:ln>
        </p:spPr>
      </p:sp>
      <p:sp>
        <p:nvSpPr>
          <p:cNvPr id="20" name="Shape 20"/>
          <p:cNvSpPr/>
          <p:nvPr/>
        </p:nvSpPr>
        <p:spPr>
          <a:xfrm>
            <a:off x="1527048" y="3319272"/>
            <a:ext cx="409651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Performance and Scale</a:t>
            </a:r>
          </a:p>
        </p:txBody>
      </p:sp>
      <p:sp>
        <p:nvSpPr>
          <p:cNvPr id="21" name="Shape 21"/>
          <p:cNvSpPr/>
          <p:nvPr/>
        </p:nvSpPr>
        <p:spPr>
          <a:xfrm>
            <a:off x="1527048" y="3657600"/>
            <a:ext cx="4096512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Load testing for gateway, search, checkout, session ingestion, Redis, MongoDB, MySQL, and queues.</a:t>
            </a:r>
          </a:p>
        </p:txBody>
      </p:sp>
      <p:sp>
        <p:nvSpPr>
          <p:cNvPr id="22" name="Shape 22"/>
          <p:cNvSpPr/>
          <p:nvPr/>
        </p:nvSpPr>
        <p:spPr>
          <a:xfrm>
            <a:off x="6400800" y="3154680"/>
            <a:ext cx="46634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23" name="Shape 23"/>
          <p:cNvSpPr/>
          <p:nvPr/>
        </p:nvSpPr>
        <p:spPr>
          <a:xfrm>
            <a:off x="6547104" y="3319272"/>
            <a:ext cx="109728" cy="996696"/>
          </a:xfrm>
          <a:prstGeom prst="rect">
            <a:avLst/>
          </a:prstGeom>
          <a:solidFill>
            <a:srgbClr val="16A34A"/>
          </a:solidFill>
          <a:ln w="12700">
            <a:noFill/>
          </a:ln>
        </p:spPr>
      </p:sp>
      <p:sp>
        <p:nvSpPr>
          <p:cNvPr id="24" name="Shape 24"/>
          <p:cNvSpPr/>
          <p:nvPr/>
        </p:nvSpPr>
        <p:spPr>
          <a:xfrm>
            <a:off x="6784848" y="3319272"/>
            <a:ext cx="409651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Intelligence</a:t>
            </a:r>
          </a:p>
        </p:txBody>
      </p:sp>
      <p:sp>
        <p:nvSpPr>
          <p:cNvPr id="25" name="Shape 25"/>
          <p:cNvSpPr/>
          <p:nvPr/>
        </p:nvSpPr>
        <p:spPr>
          <a:xfrm>
            <a:off x="6784848" y="3657600"/>
            <a:ext cx="4096512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Advance recommendation engine from rule-based ranking toward ML/vector personalization.</a:t>
            </a:r>
          </a:p>
        </p:txBody>
      </p:sp>
      <p:sp>
        <p:nvSpPr>
          <p:cNvPr id="26" name="Shape 26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27" name="Shape 2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Conclusion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Final academic summary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868680" y="1280160"/>
            <a:ext cx="10424160" cy="58521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2000" dirty="0" b="1">
                <a:solidFill>
                  <a:srgbClr val="132033"/>
                </a:solidFill>
                <a:latin typeface="Aptos"/>
                <a:cs typeface="Aptos"/>
              </a:rPr>
              <a:t>The project demonstrates a complete MCA-level full-stack ecommerce system design with microservices, multiple role-based frontends, service-owned databases, API Gateway routing, testing, deployment planning, and formal documentation.</a:t>
            </a:r>
          </a:p>
        </p:txBody>
      </p:sp>
      <p:sp>
        <p:nvSpPr>
          <p:cNvPr id="7" name="Shape 7"/>
          <p:cNvSpPr/>
          <p:nvPr/>
        </p:nvSpPr>
        <p:spPr>
          <a:xfrm>
            <a:off x="868680" y="2423160"/>
            <a:ext cx="3246120" cy="1234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8" name="Shape 8"/>
          <p:cNvSpPr/>
          <p:nvPr/>
        </p:nvSpPr>
        <p:spPr>
          <a:xfrm>
            <a:off x="1014984" y="2587752"/>
            <a:ext cx="109728" cy="90525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9" name="Shape 9"/>
          <p:cNvSpPr/>
          <p:nvPr/>
        </p:nvSpPr>
        <p:spPr>
          <a:xfrm>
            <a:off x="1252728" y="2587752"/>
            <a:ext cx="267919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Technical Outcome</a:t>
            </a:r>
          </a:p>
        </p:txBody>
      </p:sp>
      <p:sp>
        <p:nvSpPr>
          <p:cNvPr id="10" name="Shape 10"/>
          <p:cNvSpPr/>
          <p:nvPr/>
        </p:nvSpPr>
        <p:spPr>
          <a:xfrm>
            <a:off x="1252728" y="2926080"/>
            <a:ext cx="2679192" cy="5943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Modern backend and frontend architecture with clear separation of responsibilities.</a:t>
            </a:r>
          </a:p>
        </p:txBody>
      </p:sp>
      <p:sp>
        <p:nvSpPr>
          <p:cNvPr id="11" name="Shape 11"/>
          <p:cNvSpPr/>
          <p:nvPr/>
        </p:nvSpPr>
        <p:spPr>
          <a:xfrm>
            <a:off x="4480560" y="2423160"/>
            <a:ext cx="3246120" cy="12344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626864" y="2587752"/>
            <a:ext cx="109728" cy="90525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13" name="Shape 13"/>
          <p:cNvSpPr/>
          <p:nvPr/>
        </p:nvSpPr>
        <p:spPr>
          <a:xfrm>
            <a:off x="4864608" y="2587752"/>
            <a:ext cx="267919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Learning Outcome</a:t>
            </a:r>
          </a:p>
        </p:txBody>
      </p:sp>
      <p:sp>
        <p:nvSpPr>
          <p:cNvPr id="14" name="Shape 14"/>
          <p:cNvSpPr/>
          <p:nvPr/>
        </p:nvSpPr>
        <p:spPr>
          <a:xfrm>
            <a:off x="4864608" y="2926080"/>
            <a:ext cx="2679192" cy="5943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Practical exposure to Go, React, APIs, databases, DevOps, security, testing, and documentation.</a:t>
            </a:r>
          </a:p>
        </p:txBody>
      </p:sp>
      <p:sp>
        <p:nvSpPr>
          <p:cNvPr id="15" name="Shape 15"/>
          <p:cNvSpPr/>
          <p:nvPr/>
        </p:nvSpPr>
        <p:spPr>
          <a:xfrm>
            <a:off x="8092440" y="2423160"/>
            <a:ext cx="3246120" cy="12344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238744" y="2587752"/>
            <a:ext cx="109728" cy="905256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</p:sp>
      <p:sp>
        <p:nvSpPr>
          <p:cNvPr id="17" name="Shape 17"/>
          <p:cNvSpPr/>
          <p:nvPr/>
        </p:nvSpPr>
        <p:spPr>
          <a:xfrm>
            <a:off x="8476488" y="2587752"/>
            <a:ext cx="267919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Viva Readiness</a:t>
            </a:r>
          </a:p>
        </p:txBody>
      </p:sp>
      <p:sp>
        <p:nvSpPr>
          <p:cNvPr id="18" name="Shape 18"/>
          <p:cNvSpPr/>
          <p:nvPr/>
        </p:nvSpPr>
        <p:spPr>
          <a:xfrm>
            <a:off x="8476488" y="2926080"/>
            <a:ext cx="2679192" cy="5943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Includes objective, scope, architecture, modules, workflows, limitations, and future scope.</a:t>
            </a:r>
          </a:p>
        </p:txBody>
      </p:sp>
      <p:sp>
        <p:nvSpPr>
          <p:cNvPr id="19" name="Shape 19"/>
          <p:cNvSpPr/>
          <p:nvPr/>
        </p:nvSpPr>
        <p:spPr>
          <a:xfrm>
            <a:off x="1508760" y="4709160"/>
            <a:ext cx="9144000" cy="594360"/>
          </a:xfrm>
          <a:prstGeom prst="roundRect">
            <a:avLst/>
          </a:prstGeom>
          <a:solidFill>
            <a:srgbClr val="12355B"/>
          </a:solidFill>
          <a:ln w="12700">
            <a:noFill/>
          </a:ln>
        </p:spPr>
      </p:sp>
      <p:sp>
        <p:nvSpPr>
          <p:cNvPr id="20" name="Shape 20"/>
          <p:cNvSpPr/>
          <p:nvPr/>
        </p:nvSpPr>
        <p:spPr>
          <a:xfrm>
            <a:off x="1737360" y="4864608"/>
            <a:ext cx="8686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1200" dirty="0" b="1">
                <a:solidFill>
                  <a:srgbClr val="FFFFFF"/>
                </a:solidFill>
                <a:latin typeface="Aptos"/>
                <a:cs typeface="Aptos"/>
              </a:rPr>
              <a:t>No unsupported modules, fake screenshots, fake credentials, or fake implementation details were added.</a:t>
            </a:r>
          </a:p>
        </p:txBody>
      </p:sp>
      <p:sp>
        <p:nvSpPr>
          <p:cNvPr id="21" name="Shape 21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22" name="Shape 22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292608"/>
            <a:ext cx="969264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2400" dirty="0" b="1">
                <a:solidFill>
                  <a:srgbClr val="132033"/>
                </a:solidFill>
                <a:latin typeface="Aptos"/>
                <a:cs typeface="Aptos"/>
              </a:rPr>
              <a:t>Thank You</a:t>
            </a:r>
          </a:p>
        </p:txBody>
      </p:sp>
      <p:sp>
        <p:nvSpPr>
          <p:cNvPr id="4" name="Shape 4"/>
          <p:cNvSpPr/>
          <p:nvPr/>
        </p:nvSpPr>
        <p:spPr>
          <a:xfrm>
            <a:off x="530352" y="749808"/>
            <a:ext cx="9326880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Questions and Answers</a:t>
            </a:r>
          </a:p>
        </p:txBody>
      </p:sp>
      <p:sp>
        <p:nvSpPr>
          <p:cNvPr id="5" name="Shape 5"/>
          <p:cNvSpPr/>
          <p:nvPr/>
        </p:nvSpPr>
        <p:spPr>
          <a:xfrm>
            <a:off x="10561320" y="329184"/>
            <a:ext cx="1097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Project</a:t>
            </a:r>
          </a:p>
        </p:txBody>
      </p:sp>
      <p:sp>
        <p:nvSpPr>
          <p:cNvPr id="6" name="Shape 6"/>
          <p:cNvSpPr/>
          <p:nvPr/>
        </p:nvSpPr>
        <p:spPr>
          <a:xfrm>
            <a:off x="0" y="128016"/>
            <a:ext cx="12191695" cy="1965960"/>
          </a:xfrm>
          <a:prstGeom prst="rect">
            <a:avLst/>
          </a:prstGeom>
          <a:solidFill>
            <a:srgbClr val="12355B"/>
          </a:solidFill>
          <a:ln w="12700">
            <a:noFill/>
          </a:ln>
        </p:spPr>
      </p:sp>
      <p:sp>
        <p:nvSpPr>
          <p:cNvPr id="7" name="Shape 7"/>
          <p:cNvSpPr/>
          <p:nvPr/>
        </p:nvSpPr>
        <p:spPr>
          <a:xfrm>
            <a:off x="914400" y="749808"/>
            <a:ext cx="10332720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4400" dirty="0" b="1">
                <a:solidFill>
                  <a:srgbClr val="FFFFFF"/>
                </a:solidFill>
                <a:latin typeface="Aptos"/>
                <a:cs typeface="Aptos"/>
              </a:rPr>
              <a:t>Thank You</a:t>
            </a:r>
          </a:p>
        </p:txBody>
      </p:sp>
      <p:sp>
        <p:nvSpPr>
          <p:cNvPr id="8" name="Shape 8"/>
          <p:cNvSpPr/>
          <p:nvPr/>
        </p:nvSpPr>
        <p:spPr>
          <a:xfrm>
            <a:off x="914400" y="1444752"/>
            <a:ext cx="10332720" cy="329184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1900" dirty="0">
                <a:solidFill>
                  <a:srgbClr val="DDEBFF"/>
                </a:solidFill>
                <a:latin typeface="Aptos"/>
                <a:cs typeface="Aptos"/>
              </a:rPr>
              <a:t>Questions and Answers</a:t>
            </a:r>
          </a:p>
        </p:txBody>
      </p:sp>
      <p:sp>
        <p:nvSpPr>
          <p:cNvPr id="9" name="Shape 9"/>
          <p:cNvSpPr/>
          <p:nvPr/>
        </p:nvSpPr>
        <p:spPr>
          <a:xfrm>
            <a:off x="1143000" y="274320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" name="Shape 10"/>
          <p:cNvSpPr/>
          <p:nvPr/>
        </p:nvSpPr>
        <p:spPr>
          <a:xfrm>
            <a:off x="1289304" y="2907792"/>
            <a:ext cx="109728" cy="90525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</p:sp>
      <p:sp>
        <p:nvSpPr>
          <p:cNvPr id="11" name="Shape 11"/>
          <p:cNvSpPr/>
          <p:nvPr/>
        </p:nvSpPr>
        <p:spPr>
          <a:xfrm>
            <a:off x="1527048" y="2907792"/>
            <a:ext cx="391363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Project Title</a:t>
            </a:r>
          </a:p>
        </p:txBody>
      </p:sp>
      <p:sp>
        <p:nvSpPr>
          <p:cNvPr id="12" name="Shape 12"/>
          <p:cNvSpPr/>
          <p:nvPr/>
        </p:nvSpPr>
        <p:spPr>
          <a:xfrm>
            <a:off x="1527048" y="3246120"/>
            <a:ext cx="3913632" cy="5943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Scalable Backend Development for High-Performance E-Commerce Website Platform</a:t>
            </a:r>
          </a:p>
        </p:txBody>
      </p:sp>
      <p:sp>
        <p:nvSpPr>
          <p:cNvPr id="13" name="Shape 13"/>
          <p:cNvSpPr/>
          <p:nvPr/>
        </p:nvSpPr>
        <p:spPr>
          <a:xfrm>
            <a:off x="6537960" y="274320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4" name="Shape 14"/>
          <p:cNvSpPr/>
          <p:nvPr/>
        </p:nvSpPr>
        <p:spPr>
          <a:xfrm>
            <a:off x="6684264" y="2907792"/>
            <a:ext cx="109728" cy="90525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15" name="Shape 15"/>
          <p:cNvSpPr/>
          <p:nvPr/>
        </p:nvSpPr>
        <p:spPr>
          <a:xfrm>
            <a:off x="6922008" y="2907792"/>
            <a:ext cx="391363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1300" dirty="0" b="1">
                <a:solidFill>
                  <a:srgbClr val="132033"/>
                </a:solidFill>
                <a:latin typeface="Aptos"/>
                <a:cs typeface="Aptos"/>
              </a:rPr>
              <a:t>Presented By</a:t>
            </a:r>
          </a:p>
        </p:txBody>
      </p:sp>
      <p:sp>
        <p:nvSpPr>
          <p:cNvPr id="16" name="Shape 16"/>
          <p:cNvSpPr/>
          <p:nvPr/>
        </p:nvSpPr>
        <p:spPr>
          <a:xfrm>
            <a:off x="6922008" y="3246120"/>
            <a:ext cx="3913632" cy="59436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Parag Gulati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  <a:cs typeface="Aptos"/>
              </a:rPr>
              <a:t>MCA Final Year Project</a:t>
            </a:r>
          </a:p>
        </p:txBody>
      </p:sp>
      <p:sp>
        <p:nvSpPr>
          <p:cNvPr id="17" name="Shape 17"/>
          <p:cNvSpPr/>
          <p:nvPr/>
        </p:nvSpPr>
        <p:spPr>
          <a:xfrm>
            <a:off x="1325880" y="4754880"/>
            <a:ext cx="955548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c"/>
            <a:r>
              <a:rPr lang="en-US" sz="1100" dirty="0">
                <a:solidFill>
                  <a:srgbClr val="64748B"/>
                </a:solidFill>
                <a:latin typeface="Aptos"/>
                <a:cs typeface="Aptos"/>
              </a:rPr>
              <a:t>Prepared from actual repository code, docs, API catalog, database schemas, frontend routes, runbooks, and final report.</a:t>
            </a:r>
          </a:p>
        </p:txBody>
      </p:sp>
      <p:sp>
        <p:nvSpPr>
          <p:cNvPr id="18" name="Shape 18"/>
          <p:cNvSpPr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l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Scalable Ecommerce Platform | Final Project</a:t>
            </a:r>
          </a:p>
        </p:txBody>
      </p:sp>
      <p:sp>
        <p:nvSpPr>
          <p:cNvPr id="19" name="Shape 19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rIns="38100" tIns="38100" bIns="38100" anchor="t">
            <a:normAutofit fontScale="88000" lnSpcReduction="12000"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  <a:latin typeface="Aptos"/>
                <a:cs typeface="Aptos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A Ecommerce Theme">
  <a:themeElements>
    <a:clrScheme name="MCA">
      <a:dk1>
        <a:srgbClr val="132033"/>
      </a:dk1>
      <a:lt1>
        <a:srgbClr val="FFFFFF"/>
      </a:lt1>
      <a:dk2>
        <a:srgbClr val="12355B"/>
      </a:dk2>
      <a:lt2>
        <a:srgbClr val="F8FAFC"/>
      </a:lt2>
      <a:accent1>
        <a:srgbClr val="0F766E"/>
      </a:accent1>
      <a:accent2>
        <a:srgbClr val="2563EB"/>
      </a:accent2>
      <a:accent3>
        <a:srgbClr val="F59E0B"/>
      </a:accent3>
      <a:accent4>
        <a:srgbClr val="6D28D9"/>
      </a:accent4>
      <a:accent5>
        <a:srgbClr val="16A34A"/>
      </a:accent5>
      <a:accent6>
        <a:srgbClr val="DC2626"/>
      </a:accent6>
      <a:hlink>
        <a:srgbClr val="2563EB"/>
      </a:hlink>
      <a:folHlink>
        <a:srgbClr val="6D28D9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MC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 Generator</Application>
  <PresentationFormat>On-screen Show (16:9)</PresentationFormat>
  <Slides>25</Slides>
  <Company>MCA Final Project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Scalable Backend Development for High-Performance E-Commerce Website Platform</dc:title>
  <dc:subject>MCA Final Project Presentation</dc:subject>
  <dc:creator>Parag Gulati</dc:creator>
  <cp:lastModifiedBy>Codex</cp:lastModifiedBy>
  <dcterms:created xsi:type="dcterms:W3CDTF">2026-07-04T13:37:00Z</dcterms:created>
  <dcterms:modified xsi:type="dcterms:W3CDTF">2026-07-04T13:37:00Z</dcterms:modified>
</cp:coreProperties>
</file>